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80" r:id="rId3"/>
    <p:sldId id="279" r:id="rId4"/>
    <p:sldId id="282" r:id="rId5"/>
    <p:sldId id="275" r:id="rId6"/>
    <p:sldId id="272" r:id="rId7"/>
    <p:sldId id="263" r:id="rId8"/>
    <p:sldId id="286" r:id="rId9"/>
    <p:sldId id="289" r:id="rId10"/>
    <p:sldId id="283" r:id="rId11"/>
    <p:sldId id="295" r:id="rId12"/>
    <p:sldId id="291" r:id="rId13"/>
    <p:sldId id="307" r:id="rId14"/>
    <p:sldId id="306" r:id="rId15"/>
    <p:sldId id="290" r:id="rId16"/>
    <p:sldId id="27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4532" autoAdjust="0"/>
  </p:normalViewPr>
  <p:slideViewPr>
    <p:cSldViewPr snapToGrid="0" snapToObjects="1">
      <p:cViewPr varScale="1">
        <p:scale>
          <a:sx n="93" d="100"/>
          <a:sy n="93" d="100"/>
        </p:scale>
        <p:origin x="12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2A27F2-0579-4EE4-B50A-37E861872747}" type="datetimeFigureOut">
              <a:rPr lang="en-GB" smtClean="0"/>
              <a:t>12/05/2026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DCEF0E-292C-4B55-BD58-E331053CCDED}" type="slidenum">
              <a:rPr lang="en-GB" smtClean="0"/>
              <a:t>‹#›</a:t>
            </a:fld>
            <a:endParaRPr lang="en-GB"/>
          </a:p>
        </p:txBody>
      </p:sp>
    </p:spTree>
    <p:extLst>
      <p:ext uri="{BB962C8B-B14F-4D97-AF65-F5344CB8AC3E}">
        <p14:creationId xmlns:p14="http://schemas.microsoft.com/office/powerpoint/2010/main" val="310916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Collaborative work</a:t>
            </a:r>
          </a:p>
        </p:txBody>
      </p:sp>
      <p:sp>
        <p:nvSpPr>
          <p:cNvPr id="4" name="Slide Number Placeholder 3"/>
          <p:cNvSpPr>
            <a:spLocks noGrp="1"/>
          </p:cNvSpPr>
          <p:nvPr>
            <p:ph type="sldNum" sz="quarter" idx="5"/>
          </p:nvPr>
        </p:nvSpPr>
        <p:spPr/>
        <p:txBody>
          <a:bodyPr/>
          <a:lstStyle/>
          <a:p>
            <a:fld id="{5BDCEF0E-292C-4B55-BD58-E331053CCDED}" type="slidenum">
              <a:rPr lang="en-GB" smtClean="0"/>
              <a:t>2</a:t>
            </a:fld>
            <a:endParaRPr lang="en-GB"/>
          </a:p>
        </p:txBody>
      </p:sp>
    </p:spTree>
    <p:extLst>
      <p:ext uri="{BB962C8B-B14F-4D97-AF65-F5344CB8AC3E}">
        <p14:creationId xmlns:p14="http://schemas.microsoft.com/office/powerpoint/2010/main" val="4196407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Our project</a:t>
            </a:r>
          </a:p>
        </p:txBody>
      </p:sp>
      <p:sp>
        <p:nvSpPr>
          <p:cNvPr id="4" name="Slide Number Placeholder 3"/>
          <p:cNvSpPr>
            <a:spLocks noGrp="1"/>
          </p:cNvSpPr>
          <p:nvPr>
            <p:ph type="sldNum" sz="quarter" idx="5"/>
          </p:nvPr>
        </p:nvSpPr>
        <p:spPr/>
        <p:txBody>
          <a:bodyPr/>
          <a:lstStyle/>
          <a:p>
            <a:fld id="{5BDCEF0E-292C-4B55-BD58-E331053CCDED}" type="slidenum">
              <a:rPr lang="en-GB" smtClean="0"/>
              <a:t>3</a:t>
            </a:fld>
            <a:endParaRPr lang="en-GB"/>
          </a:p>
        </p:txBody>
      </p:sp>
    </p:spTree>
    <p:extLst>
      <p:ext uri="{BB962C8B-B14F-4D97-AF65-F5344CB8AC3E}">
        <p14:creationId xmlns:p14="http://schemas.microsoft.com/office/powerpoint/2010/main" val="948786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First maps of crime. Crime rates linked with education levels</a:t>
            </a:r>
          </a:p>
        </p:txBody>
      </p:sp>
      <p:sp>
        <p:nvSpPr>
          <p:cNvPr id="4" name="Slide Number Placeholder 3"/>
          <p:cNvSpPr>
            <a:spLocks noGrp="1"/>
          </p:cNvSpPr>
          <p:nvPr>
            <p:ph type="sldNum" sz="quarter" idx="5"/>
          </p:nvPr>
        </p:nvSpPr>
        <p:spPr/>
        <p:txBody>
          <a:bodyPr/>
          <a:lstStyle/>
          <a:p>
            <a:fld id="{5BDCEF0E-292C-4B55-BD58-E331053CCDED}" type="slidenum">
              <a:rPr lang="en-GB" smtClean="0"/>
              <a:t>4</a:t>
            </a:fld>
            <a:endParaRPr lang="en-GB"/>
          </a:p>
        </p:txBody>
      </p:sp>
    </p:spTree>
    <p:extLst>
      <p:ext uri="{BB962C8B-B14F-4D97-AF65-F5344CB8AC3E}">
        <p14:creationId xmlns:p14="http://schemas.microsoft.com/office/powerpoint/2010/main" val="399867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333333"/>
                </a:solidFill>
                <a:effectLst/>
                <a:latin typeface="Open Sans" panose="020B0606030504020204" pitchFamily="34" charset="0"/>
              </a:rPr>
              <a:t>A few years after the publication of the first judiciary statistics in France, which recorded data of persons sentenced at the regional level, de Candolle argued that these records were affected by several factors external to crime which could vary in space and time: victims may be unaware of crime or may not report it, the police may fail to identify or arrest the offender, and the court may fail to convict the person arrested.</a:t>
            </a:r>
            <a:endParaRPr lang="en-GB" dirty="0"/>
          </a:p>
        </p:txBody>
      </p:sp>
      <p:sp>
        <p:nvSpPr>
          <p:cNvPr id="4" name="Slide Number Placeholder 3"/>
          <p:cNvSpPr>
            <a:spLocks noGrp="1"/>
          </p:cNvSpPr>
          <p:nvPr>
            <p:ph type="sldNum" sz="quarter" idx="5"/>
          </p:nvPr>
        </p:nvSpPr>
        <p:spPr/>
        <p:txBody>
          <a:bodyPr/>
          <a:lstStyle/>
          <a:p>
            <a:fld id="{5BDCEF0E-292C-4B55-BD58-E331053CCDED}" type="slidenum">
              <a:rPr lang="en-GB" smtClean="0"/>
              <a:t>5</a:t>
            </a:fld>
            <a:endParaRPr lang="en-GB"/>
          </a:p>
        </p:txBody>
      </p:sp>
    </p:spTree>
    <p:extLst>
      <p:ext uri="{BB962C8B-B14F-4D97-AF65-F5344CB8AC3E}">
        <p14:creationId xmlns:p14="http://schemas.microsoft.com/office/powerpoint/2010/main" val="3876921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First maps in England and Wales. Industrial depression (1842-1844), the moral influences of police services and others factors</a:t>
            </a:r>
            <a:endParaRPr lang="en-GB" dirty="0"/>
          </a:p>
        </p:txBody>
      </p:sp>
      <p:sp>
        <p:nvSpPr>
          <p:cNvPr id="4" name="Slide Number Placeholder 3"/>
          <p:cNvSpPr>
            <a:spLocks noGrp="1"/>
          </p:cNvSpPr>
          <p:nvPr>
            <p:ph type="sldNum" sz="quarter" idx="5"/>
          </p:nvPr>
        </p:nvSpPr>
        <p:spPr/>
        <p:txBody>
          <a:bodyPr/>
          <a:lstStyle/>
          <a:p>
            <a:fld id="{5BDCEF0E-292C-4B55-BD58-E331053CCDED}" type="slidenum">
              <a:rPr lang="en-GB" smtClean="0"/>
              <a:t>6</a:t>
            </a:fld>
            <a:endParaRPr lang="en-GB"/>
          </a:p>
        </p:txBody>
      </p:sp>
    </p:spTree>
    <p:extLst>
      <p:ext uri="{BB962C8B-B14F-4D97-AF65-F5344CB8AC3E}">
        <p14:creationId xmlns:p14="http://schemas.microsoft.com/office/powerpoint/2010/main" val="3830455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More detailed spatial scales</a:t>
            </a:r>
          </a:p>
        </p:txBody>
      </p:sp>
      <p:sp>
        <p:nvSpPr>
          <p:cNvPr id="4" name="Slide Number Placeholder 3"/>
          <p:cNvSpPr>
            <a:spLocks noGrp="1"/>
          </p:cNvSpPr>
          <p:nvPr>
            <p:ph type="sldNum" sz="quarter" idx="5"/>
          </p:nvPr>
        </p:nvSpPr>
        <p:spPr/>
        <p:txBody>
          <a:bodyPr/>
          <a:lstStyle/>
          <a:p>
            <a:fld id="{5BDCEF0E-292C-4B55-BD58-E331053CCDED}" type="slidenum">
              <a:rPr lang="en-GB" smtClean="0"/>
              <a:t>7</a:t>
            </a:fld>
            <a:endParaRPr lang="en-GB"/>
          </a:p>
        </p:txBody>
      </p:sp>
    </p:spTree>
    <p:extLst>
      <p:ext uri="{BB962C8B-B14F-4D97-AF65-F5344CB8AC3E}">
        <p14:creationId xmlns:p14="http://schemas.microsoft.com/office/powerpoint/2010/main" val="1417432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Easy access to data</a:t>
            </a:r>
          </a:p>
        </p:txBody>
      </p:sp>
      <p:sp>
        <p:nvSpPr>
          <p:cNvPr id="4" name="Slide Number Placeholder 3"/>
          <p:cNvSpPr>
            <a:spLocks noGrp="1"/>
          </p:cNvSpPr>
          <p:nvPr>
            <p:ph type="sldNum" sz="quarter" idx="5"/>
          </p:nvPr>
        </p:nvSpPr>
        <p:spPr/>
        <p:txBody>
          <a:bodyPr/>
          <a:lstStyle/>
          <a:p>
            <a:fld id="{5BDCEF0E-292C-4B55-BD58-E331053CCDED}" type="slidenum">
              <a:rPr lang="en-GB" smtClean="0"/>
              <a:t>8</a:t>
            </a:fld>
            <a:endParaRPr lang="en-GB"/>
          </a:p>
        </p:txBody>
      </p:sp>
    </p:spTree>
    <p:extLst>
      <p:ext uri="{BB962C8B-B14F-4D97-AF65-F5344CB8AC3E}">
        <p14:creationId xmlns:p14="http://schemas.microsoft.com/office/powerpoint/2010/main" val="2104898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DCEF0E-292C-4B55-BD58-E331053CCDED}" type="slidenum">
              <a:rPr lang="en-GB" smtClean="0"/>
              <a:t>9</a:t>
            </a:fld>
            <a:endParaRPr lang="en-GB"/>
          </a:p>
        </p:txBody>
      </p:sp>
    </p:spTree>
    <p:extLst>
      <p:ext uri="{BB962C8B-B14F-4D97-AF65-F5344CB8AC3E}">
        <p14:creationId xmlns:p14="http://schemas.microsoft.com/office/powerpoint/2010/main" val="1568592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DCEF0E-292C-4B55-BD58-E331053CCDED}" type="slidenum">
              <a:rPr lang="en-GB" smtClean="0"/>
              <a:t>10</a:t>
            </a:fld>
            <a:endParaRPr lang="en-GB"/>
          </a:p>
        </p:txBody>
      </p:sp>
    </p:spTree>
    <p:extLst>
      <p:ext uri="{BB962C8B-B14F-4D97-AF65-F5344CB8AC3E}">
        <p14:creationId xmlns:p14="http://schemas.microsoft.com/office/powerpoint/2010/main" val="3125036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DCEF0E-292C-4B55-BD58-E331053CCDED}" type="slidenum">
              <a:rPr lang="en-GB" smtClean="0"/>
              <a:t>11</a:t>
            </a:fld>
            <a:endParaRPr lang="en-GB"/>
          </a:p>
        </p:txBody>
      </p:sp>
    </p:spTree>
    <p:extLst>
      <p:ext uri="{BB962C8B-B14F-4D97-AF65-F5344CB8AC3E}">
        <p14:creationId xmlns:p14="http://schemas.microsoft.com/office/powerpoint/2010/main" val="2272714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George Box: “all models are wrong, but some are useful”</a:t>
            </a:r>
          </a:p>
          <a:p>
            <a:endParaRPr lang="en-GB" dirty="0"/>
          </a:p>
        </p:txBody>
      </p:sp>
      <p:sp>
        <p:nvSpPr>
          <p:cNvPr id="4" name="Slide Number Placeholder 3"/>
          <p:cNvSpPr>
            <a:spLocks noGrp="1"/>
          </p:cNvSpPr>
          <p:nvPr>
            <p:ph type="sldNum" sz="quarter" idx="5"/>
          </p:nvPr>
        </p:nvSpPr>
        <p:spPr/>
        <p:txBody>
          <a:bodyPr/>
          <a:lstStyle/>
          <a:p>
            <a:fld id="{5BDCEF0E-292C-4B55-BD58-E331053CCDED}" type="slidenum">
              <a:rPr lang="en-GB" smtClean="0"/>
              <a:t>15</a:t>
            </a:fld>
            <a:endParaRPr lang="en-GB"/>
          </a:p>
        </p:txBody>
      </p:sp>
    </p:spTree>
    <p:extLst>
      <p:ext uri="{BB962C8B-B14F-4D97-AF65-F5344CB8AC3E}">
        <p14:creationId xmlns:p14="http://schemas.microsoft.com/office/powerpoint/2010/main" val="2163226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11C4B-412E-214C-8147-5C49766ECB6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87B6A2B-311E-6B47-9508-3C44BA35F1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3E43323-2E6E-E945-8C29-E4099C5A8DB2}"/>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5" name="Footer Placeholder 4">
            <a:extLst>
              <a:ext uri="{FF2B5EF4-FFF2-40B4-BE49-F238E27FC236}">
                <a16:creationId xmlns:a16="http://schemas.microsoft.com/office/drawing/2014/main" id="{4AF15762-2563-DB40-AC75-EE912FCC0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664B91-B173-3A4E-8937-B1F7C242E35C}"/>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2173166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06536-24F0-994D-80D6-09AAADCB7D5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630B878-7C4B-344A-882C-18A939FA62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B45F998-17E4-414A-8408-BA6439E2AE30}"/>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5" name="Footer Placeholder 4">
            <a:extLst>
              <a:ext uri="{FF2B5EF4-FFF2-40B4-BE49-F238E27FC236}">
                <a16:creationId xmlns:a16="http://schemas.microsoft.com/office/drawing/2014/main" id="{8B3F00BA-0EBE-6B42-B3CB-9ADBC33CE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E1321-76D1-9A42-B6B5-E3AF37C58D11}"/>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3001459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FC4F-71A9-3347-8226-DE8767BE978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BE4BBD9-D069-824D-814F-09D94FC46A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7072413-3700-7B45-9E50-BA3B66D9620D}"/>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5" name="Footer Placeholder 4">
            <a:extLst>
              <a:ext uri="{FF2B5EF4-FFF2-40B4-BE49-F238E27FC236}">
                <a16:creationId xmlns:a16="http://schemas.microsoft.com/office/drawing/2014/main" id="{1DFB61B7-1A7B-834F-92BF-5DD2116FF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85C412-A92F-4E47-9722-F53E32868E72}"/>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138167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46010-5D37-7A44-B016-E89DCD91B3D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0FE6CC9-4D66-F841-B6F6-66D9A9764B5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24BFE4B-F51E-E843-AF23-AB3C1A8D4FF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5CD29BE-3DE7-CD4F-9F3C-77E2492BF085}"/>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6" name="Footer Placeholder 5">
            <a:extLst>
              <a:ext uri="{FF2B5EF4-FFF2-40B4-BE49-F238E27FC236}">
                <a16:creationId xmlns:a16="http://schemas.microsoft.com/office/drawing/2014/main" id="{06F3BEC1-DC53-2540-AFCF-CC73F850BE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0A2F21-FE46-7947-9E62-788B852848E2}"/>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2333454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D13C7-7863-0241-9957-2E96C54C758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7C42A8A-E2BA-994A-85AC-A5C690E6D6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A2E6E5E-A98D-5948-9043-B13B62A6D2E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CD6F941-0F04-004C-846C-E633AC6F6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72D2561-7159-514A-84EF-8A09E16BA5F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E06AFF4-616B-884C-A2C7-D9AEC4FCDEF6}"/>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8" name="Footer Placeholder 7">
            <a:extLst>
              <a:ext uri="{FF2B5EF4-FFF2-40B4-BE49-F238E27FC236}">
                <a16:creationId xmlns:a16="http://schemas.microsoft.com/office/drawing/2014/main" id="{BE3702FD-427C-8545-94D8-71CF60E105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706B21-EE44-114B-AB9F-BD70FB305C63}"/>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832761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60DB-F638-1B41-B5CB-3FA175BF7E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2F70CE-42E0-0245-8818-48E37303624B}"/>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4" name="Footer Placeholder 3">
            <a:extLst>
              <a:ext uri="{FF2B5EF4-FFF2-40B4-BE49-F238E27FC236}">
                <a16:creationId xmlns:a16="http://schemas.microsoft.com/office/drawing/2014/main" id="{C2AB3474-3B5B-3E46-8A54-99D8DF0AC7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A27BC8-BCD6-9149-A06E-880CFCE709BF}"/>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1051027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E9FEDE-EA0A-FB4D-A2DE-C880E15E3AC4}"/>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3" name="Footer Placeholder 2">
            <a:extLst>
              <a:ext uri="{FF2B5EF4-FFF2-40B4-BE49-F238E27FC236}">
                <a16:creationId xmlns:a16="http://schemas.microsoft.com/office/drawing/2014/main" id="{8F1F018F-B42F-5640-8CDF-FF57FB4E6C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0118F4-EF7B-3047-98C4-58283B147B7B}"/>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1325948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34B38-795B-A04E-9E8F-A72CE2D7344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2895EFB-669B-0944-BFC6-082174744B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A9F6222-A964-FC41-8274-F7682C0A4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F85EB6E-8650-6A45-BFB8-6F3C93739C6C}"/>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6" name="Footer Placeholder 5">
            <a:extLst>
              <a:ext uri="{FF2B5EF4-FFF2-40B4-BE49-F238E27FC236}">
                <a16:creationId xmlns:a16="http://schemas.microsoft.com/office/drawing/2014/main" id="{23BEBCE0-2F79-F746-8460-84E918786A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197FFF-5E61-7C41-82F8-9E914C2E9E16}"/>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2621641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CE828-C0A1-7340-A355-3547723FE8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B1B7E83-C13F-2F48-9371-851E7C663D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50C30F-7AEB-1A4E-8F0B-1E679CCD2B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419AF38-7E17-B842-A249-116E30C8AE76}"/>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6" name="Footer Placeholder 5">
            <a:extLst>
              <a:ext uri="{FF2B5EF4-FFF2-40B4-BE49-F238E27FC236}">
                <a16:creationId xmlns:a16="http://schemas.microsoft.com/office/drawing/2014/main" id="{A0290066-8362-2345-AAED-191054F4EF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B9963-B9A0-8F42-A563-482EFDF87D6D}"/>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2483135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1168-9A19-BA4A-AF5F-0E115837E82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B937097-CAD9-F44F-B838-A838D64202E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E4F848-9179-8944-8B6F-0DAC9C066E9F}"/>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5" name="Footer Placeholder 4">
            <a:extLst>
              <a:ext uri="{FF2B5EF4-FFF2-40B4-BE49-F238E27FC236}">
                <a16:creationId xmlns:a16="http://schemas.microsoft.com/office/drawing/2014/main" id="{043650C4-D229-C14E-8192-DB8B8C3AD6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E2B50-B836-804C-8E49-83301EDECC08}"/>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240229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B16806-EF63-5D4D-A432-6B4D2550C7A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F06AF84-BE81-8D41-B12B-E720DE89DF9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EBC0B0F-F80D-2B47-BF8E-C2EDED5D233E}"/>
              </a:ext>
            </a:extLst>
          </p:cNvPr>
          <p:cNvSpPr>
            <a:spLocks noGrp="1"/>
          </p:cNvSpPr>
          <p:nvPr>
            <p:ph type="dt" sz="half" idx="10"/>
          </p:nvPr>
        </p:nvSpPr>
        <p:spPr/>
        <p:txBody>
          <a:bodyPr/>
          <a:lstStyle/>
          <a:p>
            <a:fld id="{6F53A84C-8EB6-4147-B330-E4ADB7D10F79}" type="datetimeFigureOut">
              <a:rPr lang="en-US" smtClean="0"/>
              <a:t>5/12/2026</a:t>
            </a:fld>
            <a:endParaRPr lang="en-US"/>
          </a:p>
        </p:txBody>
      </p:sp>
      <p:sp>
        <p:nvSpPr>
          <p:cNvPr id="5" name="Footer Placeholder 4">
            <a:extLst>
              <a:ext uri="{FF2B5EF4-FFF2-40B4-BE49-F238E27FC236}">
                <a16:creationId xmlns:a16="http://schemas.microsoft.com/office/drawing/2014/main" id="{339D4232-44CF-A849-8EE8-D19D666BE7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5F4878-3032-FF4A-A980-8EC6EAD46508}"/>
              </a:ext>
            </a:extLst>
          </p:cNvPr>
          <p:cNvSpPr>
            <a:spLocks noGrp="1"/>
          </p:cNvSpPr>
          <p:nvPr>
            <p:ph type="sldNum" sz="quarter" idx="12"/>
          </p:nvPr>
        </p:nvSpPr>
        <p:spPr/>
        <p:txBody>
          <a:bodyPr/>
          <a:lstStyle/>
          <a:p>
            <a:fld id="{7FF4C83F-F638-704E-9CEF-87591B6B05DB}" type="slidenum">
              <a:rPr lang="en-US" smtClean="0"/>
              <a:t>‹#›</a:t>
            </a:fld>
            <a:endParaRPr lang="en-US"/>
          </a:p>
        </p:txBody>
      </p:sp>
    </p:spTree>
    <p:extLst>
      <p:ext uri="{BB962C8B-B14F-4D97-AF65-F5344CB8AC3E}">
        <p14:creationId xmlns:p14="http://schemas.microsoft.com/office/powerpoint/2010/main" val="3071325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A128A1-8BB5-F249-BF2D-5428AC4E02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28496A1-AF66-1B40-AEF0-C9E401F609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354377-9122-B744-A482-961970A8B9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53A84C-8EB6-4147-B330-E4ADB7D10F79}" type="datetimeFigureOut">
              <a:rPr lang="en-US" smtClean="0"/>
              <a:t>5/12/2026</a:t>
            </a:fld>
            <a:endParaRPr lang="en-US"/>
          </a:p>
        </p:txBody>
      </p:sp>
      <p:sp>
        <p:nvSpPr>
          <p:cNvPr id="5" name="Footer Placeholder 4">
            <a:extLst>
              <a:ext uri="{FF2B5EF4-FFF2-40B4-BE49-F238E27FC236}">
                <a16:creationId xmlns:a16="http://schemas.microsoft.com/office/drawing/2014/main" id="{F631377A-98A5-CB4C-A2AD-EACCBB0A9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A0A11D-10A5-B84B-B967-0AD16F69D6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F4C83F-F638-704E-9CEF-87591B6B05DB}" type="slidenum">
              <a:rPr lang="en-US" smtClean="0"/>
              <a:t>‹#›</a:t>
            </a:fld>
            <a:endParaRPr lang="en-US"/>
          </a:p>
        </p:txBody>
      </p:sp>
    </p:spTree>
    <p:extLst>
      <p:ext uri="{BB962C8B-B14F-4D97-AF65-F5344CB8AC3E}">
        <p14:creationId xmlns:p14="http://schemas.microsoft.com/office/powerpoint/2010/main" val="2177990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jpe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60099"/>
        </a:solidFill>
        <a:effectLst/>
      </p:bgPr>
    </p:bg>
    <p:spTree>
      <p:nvGrpSpPr>
        <p:cNvPr id="1" name=""/>
        <p:cNvGrpSpPr/>
        <p:nvPr/>
      </p:nvGrpSpPr>
      <p:grpSpPr>
        <a:xfrm>
          <a:off x="0" y="0"/>
          <a:ext cx="0" cy="0"/>
          <a:chOff x="0" y="0"/>
          <a:chExt cx="0" cy="0"/>
        </a:xfrm>
      </p:grpSpPr>
      <p:pic>
        <p:nvPicPr>
          <p:cNvPr id="7" name="Picture 6" descr="A picture containing rain, nature, tiled&#10;&#10;Description automatically generated">
            <a:extLst>
              <a:ext uri="{FF2B5EF4-FFF2-40B4-BE49-F238E27FC236}">
                <a16:creationId xmlns:a16="http://schemas.microsoft.com/office/drawing/2014/main" id="{1B1879F0-CF4C-E148-A0A9-D37AE2C8814F}"/>
              </a:ext>
            </a:extLst>
          </p:cNvPr>
          <p:cNvPicPr>
            <a:picLocks noChangeAspect="1"/>
          </p:cNvPicPr>
          <p:nvPr/>
        </p:nvPicPr>
        <p:blipFill rotWithShape="1">
          <a:blip r:embed="rId2"/>
          <a:srcRect l="-75" r="61605"/>
          <a:stretch/>
        </p:blipFill>
        <p:spPr>
          <a:xfrm>
            <a:off x="1" y="0"/>
            <a:ext cx="4683210" cy="6858000"/>
          </a:xfrm>
          <a:prstGeom prst="rect">
            <a:avLst/>
          </a:prstGeom>
        </p:spPr>
      </p:pic>
      <p:sp>
        <p:nvSpPr>
          <p:cNvPr id="2" name="Title 1">
            <a:extLst>
              <a:ext uri="{FF2B5EF4-FFF2-40B4-BE49-F238E27FC236}">
                <a16:creationId xmlns:a16="http://schemas.microsoft.com/office/drawing/2014/main" id="{80B71F76-548E-E549-BDEF-2BF0AD96D70E}"/>
              </a:ext>
            </a:extLst>
          </p:cNvPr>
          <p:cNvSpPr>
            <a:spLocks noGrp="1"/>
          </p:cNvSpPr>
          <p:nvPr>
            <p:ph type="ctrTitle"/>
          </p:nvPr>
        </p:nvSpPr>
        <p:spPr>
          <a:xfrm>
            <a:off x="5078627" y="607219"/>
            <a:ext cx="6671413" cy="1655762"/>
          </a:xfrm>
        </p:spPr>
        <p:txBody>
          <a:bodyPr anchor="t">
            <a:normAutofit fontScale="90000"/>
          </a:bodyPr>
          <a:lstStyle/>
          <a:p>
            <a:pPr algn="l">
              <a:lnSpc>
                <a:spcPct val="100000"/>
              </a:lnSpc>
            </a:pPr>
            <a:r>
              <a:rPr lang="en-GB" sz="4900" dirty="0">
                <a:solidFill>
                  <a:schemeClr val="bg1"/>
                </a:solidFill>
                <a:latin typeface="Arial Nova" panose="020B0504020202020204" pitchFamily="34" charset="0"/>
              </a:rPr>
              <a:t>The measurement of crime</a:t>
            </a:r>
            <a:br>
              <a:rPr lang="en-GB" sz="5300" dirty="0">
                <a:solidFill>
                  <a:schemeClr val="bg1"/>
                </a:solidFill>
                <a:latin typeface="Arial Nova" panose="020B0504020202020204" pitchFamily="34" charset="0"/>
              </a:rPr>
            </a:br>
            <a:r>
              <a:rPr lang="en-GB" sz="4400" dirty="0">
                <a:solidFill>
                  <a:schemeClr val="bg1"/>
                </a:solidFill>
                <a:latin typeface="Arial Nova Cond Light" panose="020B0306020202020204" pitchFamily="34" charset="0"/>
              </a:rPr>
              <a:t>Opportunities and challenges</a:t>
            </a:r>
            <a:endParaRPr lang="en-US" sz="3600" i="1" dirty="0">
              <a:solidFill>
                <a:schemeClr val="bg1"/>
              </a:solidFill>
              <a:latin typeface="Arial Nova Cond Light" panose="020B0306020202020204" pitchFamily="34" charset="0"/>
            </a:endParaRPr>
          </a:p>
        </p:txBody>
      </p:sp>
      <p:sp>
        <p:nvSpPr>
          <p:cNvPr id="3" name="Subtitle 2">
            <a:extLst>
              <a:ext uri="{FF2B5EF4-FFF2-40B4-BE49-F238E27FC236}">
                <a16:creationId xmlns:a16="http://schemas.microsoft.com/office/drawing/2014/main" id="{55F525D8-1793-BC46-9D12-06BA888C58AE}"/>
              </a:ext>
            </a:extLst>
          </p:cNvPr>
          <p:cNvSpPr>
            <a:spLocks noGrp="1"/>
          </p:cNvSpPr>
          <p:nvPr>
            <p:ph type="subTitle" idx="1"/>
          </p:nvPr>
        </p:nvSpPr>
        <p:spPr>
          <a:xfrm>
            <a:off x="5078626" y="5250094"/>
            <a:ext cx="6572268" cy="1407560"/>
          </a:xfrm>
        </p:spPr>
        <p:txBody>
          <a:bodyPr>
            <a:normAutofit fontScale="92500" lnSpcReduction="20000"/>
          </a:bodyPr>
          <a:lstStyle/>
          <a:p>
            <a:pPr algn="l"/>
            <a:r>
              <a:rPr lang="en-US" sz="2800" dirty="0">
                <a:solidFill>
                  <a:schemeClr val="bg1"/>
                </a:solidFill>
                <a:latin typeface="Arial Nova" panose="020B0504020202020204" pitchFamily="34" charset="0"/>
                <a:cs typeface="Arial Nova Light" panose="020B0304020202020204" pitchFamily="34" charset="0"/>
              </a:rPr>
              <a:t>David Buil-Gil</a:t>
            </a:r>
          </a:p>
          <a:p>
            <a:pPr algn="l"/>
            <a:r>
              <a:rPr lang="en-US" sz="2000" dirty="0">
                <a:solidFill>
                  <a:schemeClr val="bg1"/>
                </a:solidFill>
                <a:latin typeface="Arial Nova Light" panose="020B0304020202020204" pitchFamily="34" charset="0"/>
                <a:cs typeface="Arial Nova Light" panose="020B0304020202020204" pitchFamily="34" charset="0"/>
              </a:rPr>
              <a:t>Senior Lecturer in Quantitative Criminology</a:t>
            </a:r>
          </a:p>
          <a:p>
            <a:pPr algn="l"/>
            <a:r>
              <a:rPr lang="en-US" sz="2000" dirty="0">
                <a:solidFill>
                  <a:schemeClr val="bg1"/>
                </a:solidFill>
                <a:latin typeface="Arial Nova Light" panose="020B0304020202020204" pitchFamily="34" charset="0"/>
                <a:cs typeface="Arial Nova Light" panose="020B0304020202020204" pitchFamily="34" charset="0"/>
              </a:rPr>
              <a:t>david.builgil@manchester.ac.uk</a:t>
            </a:r>
          </a:p>
          <a:p>
            <a:pPr algn="l"/>
            <a:r>
              <a:rPr lang="en-US" sz="2000" dirty="0">
                <a:solidFill>
                  <a:schemeClr val="bg1"/>
                </a:solidFill>
                <a:latin typeface="Arial Nova Light" panose="020B0304020202020204" pitchFamily="34" charset="0"/>
                <a:cs typeface="Arial Nova Light" panose="020B0304020202020204" pitchFamily="34" charset="0"/>
              </a:rPr>
              <a:t>@DavidBuil</a:t>
            </a:r>
          </a:p>
          <a:p>
            <a:pPr algn="l"/>
            <a:endParaRPr lang="en-US" sz="2000" dirty="0">
              <a:solidFill>
                <a:schemeClr val="bg1"/>
              </a:solidFill>
              <a:latin typeface="Arial Nova Light" panose="020B0304020202020204" pitchFamily="34" charset="0"/>
              <a:cs typeface="Arial Nova Light" panose="020B0304020202020204" pitchFamily="34" charset="0"/>
            </a:endParaRPr>
          </a:p>
        </p:txBody>
      </p:sp>
      <p:pic>
        <p:nvPicPr>
          <p:cNvPr id="10" name="Picture 9" descr="Logo&#10;&#10;Description automatically generated">
            <a:extLst>
              <a:ext uri="{FF2B5EF4-FFF2-40B4-BE49-F238E27FC236}">
                <a16:creationId xmlns:a16="http://schemas.microsoft.com/office/drawing/2014/main" id="{62C97CF5-8066-2D43-8799-50105F681811}"/>
              </a:ext>
            </a:extLst>
          </p:cNvPr>
          <p:cNvPicPr>
            <a:picLocks noChangeAspect="1"/>
          </p:cNvPicPr>
          <p:nvPr/>
        </p:nvPicPr>
        <p:blipFill>
          <a:blip r:embed="rId3"/>
          <a:stretch>
            <a:fillRect/>
          </a:stretch>
        </p:blipFill>
        <p:spPr>
          <a:xfrm>
            <a:off x="595441" y="894835"/>
            <a:ext cx="2597493" cy="895687"/>
          </a:xfrm>
          <a:prstGeom prst="rect">
            <a:avLst/>
          </a:prstGeom>
        </p:spPr>
      </p:pic>
      <p:pic>
        <p:nvPicPr>
          <p:cNvPr id="12" name="Picture 11">
            <a:extLst>
              <a:ext uri="{FF2B5EF4-FFF2-40B4-BE49-F238E27FC236}">
                <a16:creationId xmlns:a16="http://schemas.microsoft.com/office/drawing/2014/main" id="{2F7F6185-47AE-744E-BD6D-E1DE66E14A6D}"/>
              </a:ext>
            </a:extLst>
          </p:cNvPr>
          <p:cNvPicPr>
            <a:picLocks noChangeAspect="1"/>
          </p:cNvPicPr>
          <p:nvPr/>
        </p:nvPicPr>
        <p:blipFill>
          <a:blip r:embed="rId4"/>
          <a:stretch>
            <a:fillRect/>
          </a:stretch>
        </p:blipFill>
        <p:spPr>
          <a:xfrm>
            <a:off x="5156718" y="2815552"/>
            <a:ext cx="6261100" cy="76200"/>
          </a:xfrm>
          <a:prstGeom prst="rect">
            <a:avLst/>
          </a:prstGeom>
        </p:spPr>
      </p:pic>
    </p:spTree>
    <p:extLst>
      <p:ext uri="{BB962C8B-B14F-4D97-AF65-F5344CB8AC3E}">
        <p14:creationId xmlns:p14="http://schemas.microsoft.com/office/powerpoint/2010/main" val="3910451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sp>
        <p:nvSpPr>
          <p:cNvPr id="6" name="CuadroTexto 5">
            <a:extLst>
              <a:ext uri="{FF2B5EF4-FFF2-40B4-BE49-F238E27FC236}">
                <a16:creationId xmlns:a16="http://schemas.microsoft.com/office/drawing/2014/main" id="{B2E6A8F4-F3EE-1F60-9F48-8028BC9C88AF}"/>
              </a:ext>
            </a:extLst>
          </p:cNvPr>
          <p:cNvSpPr txBox="1"/>
          <p:nvPr/>
        </p:nvSpPr>
        <p:spPr>
          <a:xfrm>
            <a:off x="4904480" y="2524446"/>
            <a:ext cx="2064483" cy="307777"/>
          </a:xfrm>
          <a:prstGeom prst="rect">
            <a:avLst/>
          </a:prstGeom>
          <a:noFill/>
        </p:spPr>
        <p:txBody>
          <a:bodyPr wrap="square" rtlCol="0">
            <a:spAutoFit/>
          </a:bodyPr>
          <a:lstStyle/>
          <a:p>
            <a:pPr algn="ctr"/>
            <a:r>
              <a:rPr lang="es-ES" sz="1400" dirty="0">
                <a:latin typeface="+mj-lt"/>
              </a:rPr>
              <a:t>Prof Ian Brunton-Smith</a:t>
            </a:r>
          </a:p>
        </p:txBody>
      </p:sp>
      <p:sp>
        <p:nvSpPr>
          <p:cNvPr id="7" name="CuadroTexto 5">
            <a:extLst>
              <a:ext uri="{FF2B5EF4-FFF2-40B4-BE49-F238E27FC236}">
                <a16:creationId xmlns:a16="http://schemas.microsoft.com/office/drawing/2014/main" id="{1D3207D2-BA22-2B43-A124-E71A3B8F0BA6}"/>
              </a:ext>
            </a:extLst>
          </p:cNvPr>
          <p:cNvSpPr txBox="1"/>
          <p:nvPr/>
        </p:nvSpPr>
        <p:spPr>
          <a:xfrm>
            <a:off x="3024154" y="6169826"/>
            <a:ext cx="2022962" cy="307777"/>
          </a:xfrm>
          <a:prstGeom prst="rect">
            <a:avLst/>
          </a:prstGeom>
          <a:noFill/>
        </p:spPr>
        <p:txBody>
          <a:bodyPr wrap="square" rtlCol="0">
            <a:spAutoFit/>
          </a:bodyPr>
          <a:lstStyle/>
          <a:p>
            <a:pPr algn="ctr"/>
            <a:r>
              <a:rPr lang="es-ES" sz="1400" dirty="0">
                <a:latin typeface="+mj-lt"/>
              </a:rPr>
              <a:t>Dr Jose Pina-Sánchez</a:t>
            </a:r>
          </a:p>
        </p:txBody>
      </p:sp>
      <p:sp>
        <p:nvSpPr>
          <p:cNvPr id="8" name="CuadroTexto 5">
            <a:extLst>
              <a:ext uri="{FF2B5EF4-FFF2-40B4-BE49-F238E27FC236}">
                <a16:creationId xmlns:a16="http://schemas.microsoft.com/office/drawing/2014/main" id="{77BB6ED2-483B-C264-5E13-0013A33D0C89}"/>
              </a:ext>
            </a:extLst>
          </p:cNvPr>
          <p:cNvSpPr txBox="1"/>
          <p:nvPr/>
        </p:nvSpPr>
        <p:spPr>
          <a:xfrm>
            <a:off x="7034900" y="6146143"/>
            <a:ext cx="1862599" cy="307777"/>
          </a:xfrm>
          <a:prstGeom prst="rect">
            <a:avLst/>
          </a:prstGeom>
          <a:noFill/>
        </p:spPr>
        <p:txBody>
          <a:bodyPr wrap="square" rtlCol="0">
            <a:spAutoFit/>
          </a:bodyPr>
          <a:lstStyle/>
          <a:p>
            <a:pPr algn="ctr"/>
            <a:r>
              <a:rPr lang="es-ES" sz="1400" dirty="0">
                <a:latin typeface="+mj-lt"/>
              </a:rPr>
              <a:t>Dr Alexandru Cernat</a:t>
            </a:r>
          </a:p>
        </p:txBody>
      </p:sp>
      <p:pic>
        <p:nvPicPr>
          <p:cNvPr id="9" name="Picture 8" descr="A person smiling for the camera&#10;&#10;Description automatically generated with medium confidence">
            <a:extLst>
              <a:ext uri="{FF2B5EF4-FFF2-40B4-BE49-F238E27FC236}">
                <a16:creationId xmlns:a16="http://schemas.microsoft.com/office/drawing/2014/main" id="{3DA2AD14-7AE4-51F1-F54B-F35A6A7321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2079" y="615160"/>
            <a:ext cx="1909286" cy="1909286"/>
          </a:xfrm>
          <a:prstGeom prst="rect">
            <a:avLst/>
          </a:prstGeom>
        </p:spPr>
      </p:pic>
      <p:pic>
        <p:nvPicPr>
          <p:cNvPr id="10" name="Picture 9" descr="A person taking a selfie&#10;&#10;Description automatically generated">
            <a:extLst>
              <a:ext uri="{FF2B5EF4-FFF2-40B4-BE49-F238E27FC236}">
                <a16:creationId xmlns:a16="http://schemas.microsoft.com/office/drawing/2014/main" id="{AF143F7A-4D7F-BFF5-5237-4217C9BE40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0556" y="4643264"/>
            <a:ext cx="1492909" cy="1492909"/>
          </a:xfrm>
          <a:prstGeom prst="rect">
            <a:avLst/>
          </a:prstGeom>
        </p:spPr>
      </p:pic>
      <p:pic>
        <p:nvPicPr>
          <p:cNvPr id="11" name="Picture 10" descr="A person with his hand on his chin&#10;&#10;Description automatically generated with low confidence">
            <a:extLst>
              <a:ext uri="{FF2B5EF4-FFF2-40B4-BE49-F238E27FC236}">
                <a16:creationId xmlns:a16="http://schemas.microsoft.com/office/drawing/2014/main" id="{D438F740-370C-53C7-5156-FBAB81B8F769}"/>
              </a:ext>
            </a:extLst>
          </p:cNvPr>
          <p:cNvPicPr>
            <a:picLocks noChangeAspect="1"/>
          </p:cNvPicPr>
          <p:nvPr/>
        </p:nvPicPr>
        <p:blipFill rotWithShape="1">
          <a:blip r:embed="rId6">
            <a:extLst>
              <a:ext uri="{28A0092B-C50C-407E-A947-70E740481C1C}">
                <a14:useLocalDpi xmlns:a14="http://schemas.microsoft.com/office/drawing/2010/main" val="0"/>
              </a:ext>
            </a:extLst>
          </a:blip>
          <a:srcRect l="15641" b="15979"/>
          <a:stretch/>
        </p:blipFill>
        <p:spPr>
          <a:xfrm>
            <a:off x="7144886" y="4503649"/>
            <a:ext cx="1639088" cy="1632524"/>
          </a:xfrm>
          <a:prstGeom prst="rect">
            <a:avLst/>
          </a:prstGeom>
        </p:spPr>
      </p:pic>
      <p:pic>
        <p:nvPicPr>
          <p:cNvPr id="12" name="Graphic 11" descr="Cheers outline">
            <a:extLst>
              <a:ext uri="{FF2B5EF4-FFF2-40B4-BE49-F238E27FC236}">
                <a16:creationId xmlns:a16="http://schemas.microsoft.com/office/drawing/2014/main" id="{06F2FE97-DF53-88C4-3E30-2D51D3AE9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5199752" y="3114416"/>
            <a:ext cx="1528848" cy="1528848"/>
          </a:xfrm>
          <a:prstGeom prst="rect">
            <a:avLst/>
          </a:prstGeom>
        </p:spPr>
      </p:pic>
    </p:spTree>
    <p:extLst>
      <p:ext uri="{BB962C8B-B14F-4D97-AF65-F5344CB8AC3E}">
        <p14:creationId xmlns:p14="http://schemas.microsoft.com/office/powerpoint/2010/main" val="1580133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pic>
        <p:nvPicPr>
          <p:cNvPr id="36" name="Picture 35">
            <a:extLst>
              <a:ext uri="{FF2B5EF4-FFF2-40B4-BE49-F238E27FC236}">
                <a16:creationId xmlns:a16="http://schemas.microsoft.com/office/drawing/2014/main" id="{398CA9C1-114F-06E1-0F90-EAF0808A1BBA}"/>
              </a:ext>
            </a:extLst>
          </p:cNvPr>
          <p:cNvPicPr>
            <a:picLocks noChangeAspect="1"/>
          </p:cNvPicPr>
          <p:nvPr/>
        </p:nvPicPr>
        <p:blipFill>
          <a:blip r:embed="rId4"/>
          <a:stretch>
            <a:fillRect/>
          </a:stretch>
        </p:blipFill>
        <p:spPr>
          <a:xfrm>
            <a:off x="1937190" y="675819"/>
            <a:ext cx="8600108" cy="5506361"/>
          </a:xfrm>
          <a:prstGeom prst="rect">
            <a:avLst/>
          </a:prstGeom>
        </p:spPr>
      </p:pic>
    </p:spTree>
    <p:extLst>
      <p:ext uri="{BB962C8B-B14F-4D97-AF65-F5344CB8AC3E}">
        <p14:creationId xmlns:p14="http://schemas.microsoft.com/office/powerpoint/2010/main" val="3556547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pic>
        <p:nvPicPr>
          <p:cNvPr id="10" name="Imagen 1">
            <a:extLst>
              <a:ext uri="{FF2B5EF4-FFF2-40B4-BE49-F238E27FC236}">
                <a16:creationId xmlns:a16="http://schemas.microsoft.com/office/drawing/2014/main" id="{2ECE070E-010E-6214-A181-A83BCBF4C03A}"/>
              </a:ext>
            </a:extLst>
          </p:cNvPr>
          <p:cNvPicPr/>
          <p:nvPr/>
        </p:nvPicPr>
        <p:blipFill rotWithShape="1">
          <a:blip r:embed="rId4" cstate="print"/>
          <a:srcRect t="2080" b="2432"/>
          <a:stretch/>
        </p:blipFill>
        <p:spPr bwMode="auto">
          <a:xfrm>
            <a:off x="902043" y="1166111"/>
            <a:ext cx="4513580" cy="4038600"/>
          </a:xfrm>
          <a:prstGeom prst="rect">
            <a:avLst/>
          </a:prstGeom>
          <a:noFill/>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CA69D8B9-8C8C-E924-804E-FDE8E4FAC148}"/>
              </a:ext>
            </a:extLst>
          </p:cNvPr>
          <p:cNvPicPr/>
          <p:nvPr/>
        </p:nvPicPr>
        <p:blipFill>
          <a:blip r:embed="rId5" cstate="print"/>
          <a:stretch>
            <a:fillRect/>
          </a:stretch>
        </p:blipFill>
        <p:spPr>
          <a:xfrm>
            <a:off x="6245250" y="1420549"/>
            <a:ext cx="2595880" cy="3352800"/>
          </a:xfrm>
          <a:prstGeom prst="rect">
            <a:avLst/>
          </a:prstGeom>
        </p:spPr>
      </p:pic>
      <p:pic>
        <p:nvPicPr>
          <p:cNvPr id="12" name="Picture 11">
            <a:extLst>
              <a:ext uri="{FF2B5EF4-FFF2-40B4-BE49-F238E27FC236}">
                <a16:creationId xmlns:a16="http://schemas.microsoft.com/office/drawing/2014/main" id="{0829E1D6-1B71-3F04-A384-E06730CD0CDA}"/>
              </a:ext>
            </a:extLst>
          </p:cNvPr>
          <p:cNvPicPr/>
          <p:nvPr/>
        </p:nvPicPr>
        <p:blipFill>
          <a:blip r:embed="rId6" cstate="print"/>
          <a:stretch>
            <a:fillRect/>
          </a:stretch>
        </p:blipFill>
        <p:spPr>
          <a:xfrm>
            <a:off x="8993603" y="1420549"/>
            <a:ext cx="2515235" cy="3286125"/>
          </a:xfrm>
          <a:prstGeom prst="rect">
            <a:avLst/>
          </a:prstGeom>
        </p:spPr>
      </p:pic>
      <p:sp>
        <p:nvSpPr>
          <p:cNvPr id="13" name="CuadroTexto 5">
            <a:extLst>
              <a:ext uri="{FF2B5EF4-FFF2-40B4-BE49-F238E27FC236}">
                <a16:creationId xmlns:a16="http://schemas.microsoft.com/office/drawing/2014/main" id="{22B3CD67-8676-C450-CC22-E70F7A2ECA22}"/>
              </a:ext>
            </a:extLst>
          </p:cNvPr>
          <p:cNvSpPr txBox="1"/>
          <p:nvPr/>
        </p:nvSpPr>
        <p:spPr>
          <a:xfrm>
            <a:off x="1608690" y="5326511"/>
            <a:ext cx="3027957" cy="400110"/>
          </a:xfrm>
          <a:prstGeom prst="rect">
            <a:avLst/>
          </a:prstGeom>
          <a:noFill/>
        </p:spPr>
        <p:txBody>
          <a:bodyPr wrap="square" rtlCol="0">
            <a:spAutoFit/>
          </a:bodyPr>
          <a:lstStyle/>
          <a:p>
            <a:pPr algn="ctr"/>
            <a:r>
              <a:rPr lang="es-ES" sz="2000" dirty="0">
                <a:latin typeface="+mj-lt"/>
              </a:rPr>
              <a:t>Balbi and </a:t>
            </a:r>
            <a:r>
              <a:rPr lang="es-ES" sz="2000" dirty="0" err="1">
                <a:latin typeface="+mj-lt"/>
              </a:rPr>
              <a:t>Guerry</a:t>
            </a:r>
            <a:r>
              <a:rPr lang="es-ES" sz="2000" dirty="0">
                <a:latin typeface="+mj-lt"/>
              </a:rPr>
              <a:t> (1829)</a:t>
            </a:r>
          </a:p>
        </p:txBody>
      </p:sp>
      <p:sp>
        <p:nvSpPr>
          <p:cNvPr id="14" name="CuadroTexto 5">
            <a:extLst>
              <a:ext uri="{FF2B5EF4-FFF2-40B4-BE49-F238E27FC236}">
                <a16:creationId xmlns:a16="http://schemas.microsoft.com/office/drawing/2014/main" id="{71EFD275-6BF0-3130-7FB3-373650672A5B}"/>
              </a:ext>
            </a:extLst>
          </p:cNvPr>
          <p:cNvSpPr txBox="1"/>
          <p:nvPr/>
        </p:nvSpPr>
        <p:spPr>
          <a:xfrm>
            <a:off x="7768048" y="4882856"/>
            <a:ext cx="2668770" cy="400110"/>
          </a:xfrm>
          <a:prstGeom prst="rect">
            <a:avLst/>
          </a:prstGeom>
          <a:noFill/>
        </p:spPr>
        <p:txBody>
          <a:bodyPr wrap="square" rtlCol="0">
            <a:spAutoFit/>
          </a:bodyPr>
          <a:lstStyle/>
          <a:p>
            <a:pPr algn="ctr"/>
            <a:r>
              <a:rPr lang="es-ES" sz="2000" dirty="0" err="1">
                <a:latin typeface="+mj-lt"/>
              </a:rPr>
              <a:t>Guerry</a:t>
            </a:r>
            <a:r>
              <a:rPr lang="es-ES" sz="2000" dirty="0">
                <a:latin typeface="+mj-lt"/>
              </a:rPr>
              <a:t> (1833)</a:t>
            </a:r>
          </a:p>
        </p:txBody>
      </p:sp>
    </p:spTree>
    <p:extLst>
      <p:ext uri="{BB962C8B-B14F-4D97-AF65-F5344CB8AC3E}">
        <p14:creationId xmlns:p14="http://schemas.microsoft.com/office/powerpoint/2010/main" val="667219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pic>
        <p:nvPicPr>
          <p:cNvPr id="10" name="Picture 9" descr="A person in a suit&#10;&#10;Description automatically generated with medium confidence">
            <a:extLst>
              <a:ext uri="{FF2B5EF4-FFF2-40B4-BE49-F238E27FC236}">
                <a16:creationId xmlns:a16="http://schemas.microsoft.com/office/drawing/2014/main" id="{FECC4AA1-63F5-784E-FAA3-C77F123321FD}"/>
              </a:ext>
            </a:extLst>
          </p:cNvPr>
          <p:cNvPicPr>
            <a:picLocks noChangeAspect="1"/>
          </p:cNvPicPr>
          <p:nvPr/>
        </p:nvPicPr>
        <p:blipFill>
          <a:blip r:embed="rId4"/>
          <a:stretch>
            <a:fillRect/>
          </a:stretch>
        </p:blipFill>
        <p:spPr>
          <a:xfrm>
            <a:off x="618160" y="969091"/>
            <a:ext cx="2700391" cy="3802151"/>
          </a:xfrm>
          <a:prstGeom prst="rect">
            <a:avLst/>
          </a:prstGeom>
        </p:spPr>
      </p:pic>
      <p:sp>
        <p:nvSpPr>
          <p:cNvPr id="11" name="CuadroTexto 5">
            <a:extLst>
              <a:ext uri="{FF2B5EF4-FFF2-40B4-BE49-F238E27FC236}">
                <a16:creationId xmlns:a16="http://schemas.microsoft.com/office/drawing/2014/main" id="{F66E6C0D-386C-326A-CD57-658E72379C11}"/>
              </a:ext>
            </a:extLst>
          </p:cNvPr>
          <p:cNvSpPr txBox="1"/>
          <p:nvPr/>
        </p:nvSpPr>
        <p:spPr>
          <a:xfrm>
            <a:off x="454376" y="4800489"/>
            <a:ext cx="3027957" cy="400110"/>
          </a:xfrm>
          <a:prstGeom prst="rect">
            <a:avLst/>
          </a:prstGeom>
          <a:noFill/>
        </p:spPr>
        <p:txBody>
          <a:bodyPr wrap="square" rtlCol="0">
            <a:spAutoFit/>
          </a:bodyPr>
          <a:lstStyle/>
          <a:p>
            <a:pPr algn="ctr"/>
            <a:r>
              <a:rPr lang="es-ES" sz="2000" dirty="0">
                <a:latin typeface="+mj-lt"/>
              </a:rPr>
              <a:t>Alphonse de Candolle</a:t>
            </a:r>
          </a:p>
        </p:txBody>
      </p:sp>
      <p:pic>
        <p:nvPicPr>
          <p:cNvPr id="12" name="Picture 11">
            <a:extLst>
              <a:ext uri="{FF2B5EF4-FFF2-40B4-BE49-F238E27FC236}">
                <a16:creationId xmlns:a16="http://schemas.microsoft.com/office/drawing/2014/main" id="{A0E1C634-4AC0-EC9F-A1EA-066242C77355}"/>
              </a:ext>
            </a:extLst>
          </p:cNvPr>
          <p:cNvPicPr>
            <a:picLocks noChangeAspect="1"/>
          </p:cNvPicPr>
          <p:nvPr/>
        </p:nvPicPr>
        <p:blipFill>
          <a:blip r:embed="rId5"/>
          <a:stretch>
            <a:fillRect/>
          </a:stretch>
        </p:blipFill>
        <p:spPr>
          <a:xfrm>
            <a:off x="3747782" y="1272387"/>
            <a:ext cx="3690708" cy="3195557"/>
          </a:xfrm>
          <a:prstGeom prst="rect">
            <a:avLst/>
          </a:prstGeom>
        </p:spPr>
      </p:pic>
      <p:pic>
        <p:nvPicPr>
          <p:cNvPr id="13" name="Picture 12">
            <a:extLst>
              <a:ext uri="{FF2B5EF4-FFF2-40B4-BE49-F238E27FC236}">
                <a16:creationId xmlns:a16="http://schemas.microsoft.com/office/drawing/2014/main" id="{BA29D3C0-3068-B15D-1C90-BA93C52E1C98}"/>
              </a:ext>
            </a:extLst>
          </p:cNvPr>
          <p:cNvPicPr>
            <a:picLocks noChangeAspect="1"/>
          </p:cNvPicPr>
          <p:nvPr/>
        </p:nvPicPr>
        <p:blipFill>
          <a:blip r:embed="rId6"/>
          <a:stretch>
            <a:fillRect/>
          </a:stretch>
        </p:blipFill>
        <p:spPr>
          <a:xfrm>
            <a:off x="7710918" y="1221610"/>
            <a:ext cx="4122701" cy="3297109"/>
          </a:xfrm>
          <a:prstGeom prst="rect">
            <a:avLst/>
          </a:prstGeom>
        </p:spPr>
      </p:pic>
      <p:sp>
        <p:nvSpPr>
          <p:cNvPr id="14" name="CuadroTexto 5">
            <a:extLst>
              <a:ext uri="{FF2B5EF4-FFF2-40B4-BE49-F238E27FC236}">
                <a16:creationId xmlns:a16="http://schemas.microsoft.com/office/drawing/2014/main" id="{7B1A32E4-71A8-6BEB-6A6A-10D53953BA62}"/>
              </a:ext>
            </a:extLst>
          </p:cNvPr>
          <p:cNvSpPr txBox="1"/>
          <p:nvPr/>
        </p:nvSpPr>
        <p:spPr>
          <a:xfrm>
            <a:off x="4079157" y="4518719"/>
            <a:ext cx="3027957" cy="400110"/>
          </a:xfrm>
          <a:prstGeom prst="rect">
            <a:avLst/>
          </a:prstGeom>
          <a:noFill/>
        </p:spPr>
        <p:txBody>
          <a:bodyPr wrap="square" rtlCol="0">
            <a:spAutoFit/>
          </a:bodyPr>
          <a:lstStyle/>
          <a:p>
            <a:pPr algn="ctr"/>
            <a:r>
              <a:rPr lang="es-ES" sz="2000" dirty="0">
                <a:latin typeface="+mj-lt"/>
              </a:rPr>
              <a:t>1830</a:t>
            </a:r>
          </a:p>
        </p:txBody>
      </p:sp>
      <p:sp>
        <p:nvSpPr>
          <p:cNvPr id="15" name="CuadroTexto 5">
            <a:extLst>
              <a:ext uri="{FF2B5EF4-FFF2-40B4-BE49-F238E27FC236}">
                <a16:creationId xmlns:a16="http://schemas.microsoft.com/office/drawing/2014/main" id="{FAC2381D-0906-2906-D9E0-238B05F2DAB0}"/>
              </a:ext>
            </a:extLst>
          </p:cNvPr>
          <p:cNvSpPr txBox="1"/>
          <p:nvPr/>
        </p:nvSpPr>
        <p:spPr>
          <a:xfrm>
            <a:off x="8258289" y="4600434"/>
            <a:ext cx="3027957" cy="400110"/>
          </a:xfrm>
          <a:prstGeom prst="rect">
            <a:avLst/>
          </a:prstGeom>
          <a:noFill/>
        </p:spPr>
        <p:txBody>
          <a:bodyPr wrap="square" rtlCol="0">
            <a:spAutoFit/>
          </a:bodyPr>
          <a:lstStyle/>
          <a:p>
            <a:pPr algn="ctr"/>
            <a:r>
              <a:rPr lang="es-ES" sz="2000" dirty="0">
                <a:latin typeface="+mj-lt"/>
              </a:rPr>
              <a:t>1832</a:t>
            </a:r>
          </a:p>
        </p:txBody>
      </p:sp>
    </p:spTree>
    <p:extLst>
      <p:ext uri="{BB962C8B-B14F-4D97-AF65-F5344CB8AC3E}">
        <p14:creationId xmlns:p14="http://schemas.microsoft.com/office/powerpoint/2010/main" val="1826409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pic>
        <p:nvPicPr>
          <p:cNvPr id="17" name="Picture 16">
            <a:extLst>
              <a:ext uri="{FF2B5EF4-FFF2-40B4-BE49-F238E27FC236}">
                <a16:creationId xmlns:a16="http://schemas.microsoft.com/office/drawing/2014/main" id="{E5A9C616-3DCF-95D1-65ED-B6087288E552}"/>
              </a:ext>
            </a:extLst>
          </p:cNvPr>
          <p:cNvPicPr/>
          <p:nvPr/>
        </p:nvPicPr>
        <p:blipFill>
          <a:blip r:embed="rId4" cstate="print"/>
          <a:stretch>
            <a:fillRect/>
          </a:stretch>
        </p:blipFill>
        <p:spPr>
          <a:xfrm>
            <a:off x="3920677" y="784727"/>
            <a:ext cx="4350645" cy="4914900"/>
          </a:xfrm>
          <a:prstGeom prst="rect">
            <a:avLst/>
          </a:prstGeom>
        </p:spPr>
      </p:pic>
      <p:sp>
        <p:nvSpPr>
          <p:cNvPr id="18" name="CuadroTexto 5">
            <a:extLst>
              <a:ext uri="{FF2B5EF4-FFF2-40B4-BE49-F238E27FC236}">
                <a16:creationId xmlns:a16="http://schemas.microsoft.com/office/drawing/2014/main" id="{E0AEE5A5-EB6E-4A4D-4C76-E1B595EA88EF}"/>
              </a:ext>
            </a:extLst>
          </p:cNvPr>
          <p:cNvSpPr txBox="1"/>
          <p:nvPr/>
        </p:nvSpPr>
        <p:spPr>
          <a:xfrm>
            <a:off x="4761615" y="5699627"/>
            <a:ext cx="2668770" cy="400110"/>
          </a:xfrm>
          <a:prstGeom prst="rect">
            <a:avLst/>
          </a:prstGeom>
          <a:noFill/>
        </p:spPr>
        <p:txBody>
          <a:bodyPr wrap="square" rtlCol="0">
            <a:spAutoFit/>
          </a:bodyPr>
          <a:lstStyle/>
          <a:p>
            <a:pPr algn="ctr"/>
            <a:r>
              <a:rPr lang="es-ES" sz="2000" dirty="0" err="1">
                <a:latin typeface="+mj-lt"/>
              </a:rPr>
              <a:t>Fletcher</a:t>
            </a:r>
            <a:r>
              <a:rPr lang="es-ES" sz="2000" dirty="0">
                <a:latin typeface="+mj-lt"/>
              </a:rPr>
              <a:t> (1849)</a:t>
            </a:r>
          </a:p>
        </p:txBody>
      </p:sp>
    </p:spTree>
    <p:extLst>
      <p:ext uri="{BB962C8B-B14F-4D97-AF65-F5344CB8AC3E}">
        <p14:creationId xmlns:p14="http://schemas.microsoft.com/office/powerpoint/2010/main" val="139001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pic>
        <p:nvPicPr>
          <p:cNvPr id="6" name="Picture 5">
            <a:extLst>
              <a:ext uri="{FF2B5EF4-FFF2-40B4-BE49-F238E27FC236}">
                <a16:creationId xmlns:a16="http://schemas.microsoft.com/office/drawing/2014/main" id="{F29EDD8B-EE01-16E0-2F68-E420CC132D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79362" y="3897666"/>
            <a:ext cx="3679932" cy="2122093"/>
          </a:xfrm>
          <a:prstGeom prst="rect">
            <a:avLst/>
          </a:prstGeom>
        </p:spPr>
      </p:pic>
      <p:pic>
        <p:nvPicPr>
          <p:cNvPr id="7" name="Picture 6">
            <a:extLst>
              <a:ext uri="{FF2B5EF4-FFF2-40B4-BE49-F238E27FC236}">
                <a16:creationId xmlns:a16="http://schemas.microsoft.com/office/drawing/2014/main" id="{D85D4958-E498-BBA4-87E4-26DC7CE145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28507" y="3897666"/>
            <a:ext cx="3318347" cy="2073967"/>
          </a:xfrm>
          <a:prstGeom prst="rect">
            <a:avLst/>
          </a:prstGeom>
        </p:spPr>
      </p:pic>
      <p:pic>
        <p:nvPicPr>
          <p:cNvPr id="8" name="Picture 2">
            <a:extLst>
              <a:ext uri="{FF2B5EF4-FFF2-40B4-BE49-F238E27FC236}">
                <a16:creationId xmlns:a16="http://schemas.microsoft.com/office/drawing/2014/main" id="{7267DE6C-F8E3-008D-14B1-97DFC9E408E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506" r="21495"/>
          <a:stretch/>
        </p:blipFill>
        <p:spPr bwMode="auto">
          <a:xfrm>
            <a:off x="8113294" y="366278"/>
            <a:ext cx="1983208" cy="3062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6">
            <a:extLst>
              <a:ext uri="{FF2B5EF4-FFF2-40B4-BE49-F238E27FC236}">
                <a16:creationId xmlns:a16="http://schemas.microsoft.com/office/drawing/2014/main" id="{EE395B07-8CD8-B8D9-6F0C-ADDF270F9B2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492" r="13493"/>
          <a:stretch/>
        </p:blipFill>
        <p:spPr bwMode="auto">
          <a:xfrm>
            <a:off x="1482617" y="3429000"/>
            <a:ext cx="1689101" cy="2765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Content Placeholder 3">
            <a:extLst>
              <a:ext uri="{FF2B5EF4-FFF2-40B4-BE49-F238E27FC236}">
                <a16:creationId xmlns:a16="http://schemas.microsoft.com/office/drawing/2014/main" id="{3CD69736-5E0A-BC6A-877A-C7667239D68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05358" y="689665"/>
            <a:ext cx="3967684" cy="2644547"/>
          </a:xfrm>
          <a:prstGeom prst="rect">
            <a:avLst/>
          </a:prstGeom>
        </p:spPr>
      </p:pic>
      <p:pic>
        <p:nvPicPr>
          <p:cNvPr id="11" name="Picture 4">
            <a:extLst>
              <a:ext uri="{FF2B5EF4-FFF2-40B4-BE49-F238E27FC236}">
                <a16:creationId xmlns:a16="http://schemas.microsoft.com/office/drawing/2014/main" id="{EF2E109E-6268-708A-979A-BF818788F474}"/>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3673" r="7809"/>
          <a:stretch/>
        </p:blipFill>
        <p:spPr bwMode="auto">
          <a:xfrm>
            <a:off x="5086349" y="366279"/>
            <a:ext cx="2019301" cy="3062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9589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pic>
        <p:nvPicPr>
          <p:cNvPr id="6" name="Picture 5">
            <a:extLst>
              <a:ext uri="{FF2B5EF4-FFF2-40B4-BE49-F238E27FC236}">
                <a16:creationId xmlns:a16="http://schemas.microsoft.com/office/drawing/2014/main" id="{098EC97D-0CE9-9AE4-1FD9-D85AE605FB89}"/>
              </a:ext>
            </a:extLst>
          </p:cNvPr>
          <p:cNvPicPr>
            <a:picLocks noChangeAspect="1"/>
          </p:cNvPicPr>
          <p:nvPr/>
        </p:nvPicPr>
        <p:blipFill>
          <a:blip r:embed="rId4"/>
          <a:stretch>
            <a:fillRect/>
          </a:stretch>
        </p:blipFill>
        <p:spPr>
          <a:xfrm>
            <a:off x="5499546" y="776249"/>
            <a:ext cx="6410515" cy="3746728"/>
          </a:xfrm>
          <a:prstGeom prst="rect">
            <a:avLst/>
          </a:prstGeom>
        </p:spPr>
      </p:pic>
      <p:pic>
        <p:nvPicPr>
          <p:cNvPr id="7" name="Picture 6">
            <a:extLst>
              <a:ext uri="{FF2B5EF4-FFF2-40B4-BE49-F238E27FC236}">
                <a16:creationId xmlns:a16="http://schemas.microsoft.com/office/drawing/2014/main" id="{9E9CC556-43E9-41C9-B5D3-BB3E86CBA67D}"/>
              </a:ext>
            </a:extLst>
          </p:cNvPr>
          <p:cNvPicPr>
            <a:picLocks noChangeAspect="1"/>
          </p:cNvPicPr>
          <p:nvPr/>
        </p:nvPicPr>
        <p:blipFill>
          <a:blip r:embed="rId5"/>
          <a:stretch>
            <a:fillRect/>
          </a:stretch>
        </p:blipFill>
        <p:spPr>
          <a:xfrm>
            <a:off x="490962" y="2648457"/>
            <a:ext cx="5605038" cy="3001266"/>
          </a:xfrm>
          <a:prstGeom prst="rect">
            <a:avLst/>
          </a:prstGeom>
        </p:spPr>
      </p:pic>
    </p:spTree>
    <p:extLst>
      <p:ext uri="{BB962C8B-B14F-4D97-AF65-F5344CB8AC3E}">
        <p14:creationId xmlns:p14="http://schemas.microsoft.com/office/powerpoint/2010/main" val="384423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sp>
        <p:nvSpPr>
          <p:cNvPr id="9" name="Title 2">
            <a:extLst>
              <a:ext uri="{FF2B5EF4-FFF2-40B4-BE49-F238E27FC236}">
                <a16:creationId xmlns:a16="http://schemas.microsoft.com/office/drawing/2014/main" id="{514958C9-96BC-9425-3EC6-CFD5F69C7C32}"/>
              </a:ext>
            </a:extLst>
          </p:cNvPr>
          <p:cNvSpPr txBox="1">
            <a:spLocks/>
          </p:cNvSpPr>
          <p:nvPr/>
        </p:nvSpPr>
        <p:spPr>
          <a:xfrm>
            <a:off x="838200" y="4105825"/>
            <a:ext cx="10515600" cy="105259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95000"/>
              </a:lnSpc>
              <a:spcAft>
                <a:spcPts val="1000"/>
              </a:spcAft>
            </a:pPr>
            <a:r>
              <a:rPr lang="en-GB" sz="3200" b="1" dirty="0"/>
              <a:t>Area-level crime rates are affected by localised social processes and dynamics</a:t>
            </a:r>
          </a:p>
        </p:txBody>
      </p:sp>
      <p:sp>
        <p:nvSpPr>
          <p:cNvPr id="10" name="Title 2">
            <a:extLst>
              <a:ext uri="{FF2B5EF4-FFF2-40B4-BE49-F238E27FC236}">
                <a16:creationId xmlns:a16="http://schemas.microsoft.com/office/drawing/2014/main" id="{DD6A9C5A-C4DC-0FBC-246F-55231CCB8B3F}"/>
              </a:ext>
            </a:extLst>
          </p:cNvPr>
          <p:cNvSpPr txBox="1">
            <a:spLocks/>
          </p:cNvSpPr>
          <p:nvPr/>
        </p:nvSpPr>
        <p:spPr>
          <a:xfrm>
            <a:off x="627296" y="5184134"/>
            <a:ext cx="10747103" cy="935641"/>
          </a:xfrm>
          <a:prstGeom prst="rect">
            <a:avLst/>
          </a:prstGeom>
        </p:spPr>
        <p:txBody>
          <a:bodyPr vert="horz" wrap="square" lIns="0" tIns="0" rIns="0" bIns="0" rtlCol="0" anchor="t" anchorCtr="0">
            <a:spAutoFit/>
          </a:bodyPr>
          <a:lstStyle>
            <a:lvl1pPr algn="l" defTabSz="914400" rtl="0" eaLnBrk="1" latinLnBrk="0" hangingPunct="1">
              <a:lnSpc>
                <a:spcPct val="95000"/>
              </a:lnSpc>
              <a:spcBef>
                <a:spcPct val="0"/>
              </a:spcBef>
              <a:spcAft>
                <a:spcPts val="1000"/>
              </a:spcAft>
              <a:buNone/>
              <a:defRPr sz="3600" b="1" kern="1200" baseline="0">
                <a:solidFill>
                  <a:srgbClr val="003C57"/>
                </a:solidFill>
                <a:latin typeface="+mj-lt"/>
                <a:ea typeface="+mj-ea"/>
                <a:cs typeface="+mj-cs"/>
              </a:defRPr>
            </a:lvl1pPr>
          </a:lstStyle>
          <a:p>
            <a:pPr algn="ctr"/>
            <a:r>
              <a:rPr lang="en-GB" sz="3200" dirty="0">
                <a:solidFill>
                  <a:schemeClr val="tx1"/>
                </a:solidFill>
              </a:rPr>
              <a:t>Localised crime prevention initiatives can be effective in reducing overall crime rates</a:t>
            </a:r>
          </a:p>
        </p:txBody>
      </p:sp>
      <p:sp>
        <p:nvSpPr>
          <p:cNvPr id="11" name="Title 2">
            <a:extLst>
              <a:ext uri="{FF2B5EF4-FFF2-40B4-BE49-F238E27FC236}">
                <a16:creationId xmlns:a16="http://schemas.microsoft.com/office/drawing/2014/main" id="{FC050FE5-AF03-7632-E78D-839AE895EFF9}"/>
              </a:ext>
            </a:extLst>
          </p:cNvPr>
          <p:cNvSpPr txBox="1">
            <a:spLocks/>
          </p:cNvSpPr>
          <p:nvPr/>
        </p:nvSpPr>
        <p:spPr>
          <a:xfrm>
            <a:off x="923300" y="3487144"/>
            <a:ext cx="10515600" cy="467820"/>
          </a:xfrm>
          <a:prstGeom prst="rect">
            <a:avLst/>
          </a:prstGeom>
        </p:spPr>
        <p:txBody>
          <a:bodyPr vert="horz" wrap="square" lIns="0" tIns="0" rIns="0" bIns="0" rtlCol="0" anchor="t" anchorCtr="0">
            <a:spAutoFit/>
          </a:bodyPr>
          <a:lstStyle>
            <a:lvl1pPr algn="l" defTabSz="914400" rtl="0" eaLnBrk="1" latinLnBrk="0" hangingPunct="1">
              <a:lnSpc>
                <a:spcPct val="95000"/>
              </a:lnSpc>
              <a:spcBef>
                <a:spcPct val="0"/>
              </a:spcBef>
              <a:spcAft>
                <a:spcPts val="1000"/>
              </a:spcAft>
              <a:buNone/>
              <a:defRPr sz="3600" b="1" kern="1200" baseline="0">
                <a:solidFill>
                  <a:srgbClr val="003C57"/>
                </a:solidFill>
                <a:latin typeface="+mj-lt"/>
                <a:ea typeface="+mj-ea"/>
                <a:cs typeface="+mj-cs"/>
              </a:defRPr>
            </a:lvl1pPr>
          </a:lstStyle>
          <a:p>
            <a:pPr algn="ctr"/>
            <a:r>
              <a:rPr lang="en-GB" sz="3200" dirty="0">
                <a:solidFill>
                  <a:schemeClr val="tx1"/>
                </a:solidFill>
              </a:rPr>
              <a:t>Crime is highly concentrated in certain areas</a:t>
            </a:r>
          </a:p>
        </p:txBody>
      </p:sp>
      <p:sp>
        <p:nvSpPr>
          <p:cNvPr id="3" name="Rectangle 2">
            <a:extLst>
              <a:ext uri="{FF2B5EF4-FFF2-40B4-BE49-F238E27FC236}">
                <a16:creationId xmlns:a16="http://schemas.microsoft.com/office/drawing/2014/main" id="{6D8866CC-70DC-65DC-802D-19B3A7CE3707}"/>
              </a:ext>
            </a:extLst>
          </p:cNvPr>
          <p:cNvSpPr/>
          <p:nvPr/>
        </p:nvSpPr>
        <p:spPr>
          <a:xfrm>
            <a:off x="2460395" y="3536673"/>
            <a:ext cx="1166383" cy="333634"/>
          </a:xfrm>
          <a:prstGeom prst="rect">
            <a:avLst/>
          </a:prstGeom>
          <a:solidFill>
            <a:srgbClr val="FF0000">
              <a:alpha val="3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5" name="Rectangle 4">
            <a:extLst>
              <a:ext uri="{FF2B5EF4-FFF2-40B4-BE49-F238E27FC236}">
                <a16:creationId xmlns:a16="http://schemas.microsoft.com/office/drawing/2014/main" id="{8B855D66-1C19-1960-0953-0D7371C81BF8}"/>
              </a:ext>
            </a:extLst>
          </p:cNvPr>
          <p:cNvSpPr/>
          <p:nvPr/>
        </p:nvSpPr>
        <p:spPr>
          <a:xfrm>
            <a:off x="2743200" y="4243227"/>
            <a:ext cx="1939007" cy="296513"/>
          </a:xfrm>
          <a:prstGeom prst="rect">
            <a:avLst/>
          </a:prstGeom>
          <a:solidFill>
            <a:srgbClr val="FF0000">
              <a:alpha val="3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6" name="Rectangle 5">
            <a:extLst>
              <a:ext uri="{FF2B5EF4-FFF2-40B4-BE49-F238E27FC236}">
                <a16:creationId xmlns:a16="http://schemas.microsoft.com/office/drawing/2014/main" id="{943D82D7-4EA7-571E-8C0B-17B9F5CC4522}"/>
              </a:ext>
            </a:extLst>
          </p:cNvPr>
          <p:cNvSpPr/>
          <p:nvPr/>
        </p:nvSpPr>
        <p:spPr>
          <a:xfrm>
            <a:off x="5610399" y="5673166"/>
            <a:ext cx="1971930" cy="446609"/>
          </a:xfrm>
          <a:prstGeom prst="rect">
            <a:avLst/>
          </a:prstGeom>
          <a:solidFill>
            <a:srgbClr val="FF0000">
              <a:alpha val="3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8" name="Content Placeholder 3">
            <a:extLst>
              <a:ext uri="{FF2B5EF4-FFF2-40B4-BE49-F238E27FC236}">
                <a16:creationId xmlns:a16="http://schemas.microsoft.com/office/drawing/2014/main" id="{22FFBE30-968F-0CBD-4C29-B1AF087EA969}"/>
              </a:ext>
            </a:extLst>
          </p:cNvPr>
          <p:cNvSpPr txBox="1">
            <a:spLocks/>
          </p:cNvSpPr>
          <p:nvPr/>
        </p:nvSpPr>
        <p:spPr>
          <a:xfrm>
            <a:off x="394179" y="870302"/>
            <a:ext cx="11213336" cy="17695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GB" sz="3200" dirty="0">
                <a:latin typeface="Arial Nova" panose="020B0504020202020204" pitchFamily="34" charset="0"/>
              </a:rPr>
              <a:t>Police-recorded crimes are used by:</a:t>
            </a:r>
          </a:p>
          <a:p>
            <a:pPr marL="637200" lvl="2" indent="0">
              <a:buFont typeface="Arial" panose="020B0604020202020204" pitchFamily="34" charset="0"/>
              <a:buNone/>
            </a:pPr>
            <a:r>
              <a:rPr lang="en-GB" sz="2800" dirty="0">
                <a:latin typeface="Arial Nova" panose="020B0504020202020204" pitchFamily="34" charset="0"/>
              </a:rPr>
              <a:t>Police forces   → Design and evaluate policing strategies</a:t>
            </a:r>
          </a:p>
          <a:p>
            <a:pPr marL="637200" lvl="2" indent="0">
              <a:buFont typeface="Arial" panose="020B0604020202020204" pitchFamily="34" charset="0"/>
              <a:buNone/>
            </a:pPr>
            <a:r>
              <a:rPr lang="en-GB" sz="2800" dirty="0">
                <a:latin typeface="Arial Nova" panose="020B0504020202020204" pitchFamily="34" charset="0"/>
              </a:rPr>
              <a:t>Policy makers → Design and evaluate crime prevention policies</a:t>
            </a:r>
          </a:p>
          <a:p>
            <a:pPr marL="637200" lvl="2" indent="0">
              <a:buFont typeface="Arial" panose="020B0604020202020204" pitchFamily="34" charset="0"/>
              <a:buNone/>
            </a:pPr>
            <a:r>
              <a:rPr lang="en-GB" sz="2800" dirty="0">
                <a:latin typeface="Arial Nova" panose="020B0504020202020204" pitchFamily="34" charset="0"/>
              </a:rPr>
              <a:t>Academics      → Explore the causes and consequences of crime</a:t>
            </a:r>
          </a:p>
          <a:p>
            <a:pPr marL="637200" lvl="2" indent="0">
              <a:buFont typeface="Arial" panose="020B0604020202020204" pitchFamily="34" charset="0"/>
              <a:buNone/>
            </a:pPr>
            <a:endParaRPr lang="en-GB" sz="2200" dirty="0">
              <a:latin typeface="Arial Nova" panose="020B0504020202020204" pitchFamily="34" charset="0"/>
            </a:endParaRPr>
          </a:p>
        </p:txBody>
      </p:sp>
    </p:spTree>
    <p:extLst>
      <p:ext uri="{BB962C8B-B14F-4D97-AF65-F5344CB8AC3E}">
        <p14:creationId xmlns:p14="http://schemas.microsoft.com/office/powerpoint/2010/main" val="354985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3"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sp>
        <p:nvSpPr>
          <p:cNvPr id="7" name="Title 2">
            <a:extLst>
              <a:ext uri="{FF2B5EF4-FFF2-40B4-BE49-F238E27FC236}">
                <a16:creationId xmlns:a16="http://schemas.microsoft.com/office/drawing/2014/main" id="{EBCB0624-8899-9BB2-78FC-62BAE46E6BAC}"/>
              </a:ext>
            </a:extLst>
          </p:cNvPr>
          <p:cNvSpPr txBox="1">
            <a:spLocks/>
          </p:cNvSpPr>
          <p:nvPr/>
        </p:nvSpPr>
        <p:spPr>
          <a:xfrm>
            <a:off x="856343" y="2459497"/>
            <a:ext cx="10515600" cy="15788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Thus… </a:t>
            </a:r>
            <a:br>
              <a:rPr lang="en-GB" dirty="0"/>
            </a:br>
            <a:r>
              <a:rPr lang="en-GB" i="1" dirty="0"/>
              <a:t>it is key to adequately measure the prevalence and nature of crime</a:t>
            </a:r>
          </a:p>
        </p:txBody>
      </p:sp>
    </p:spTree>
    <p:extLst>
      <p:ext uri="{BB962C8B-B14F-4D97-AF65-F5344CB8AC3E}">
        <p14:creationId xmlns:p14="http://schemas.microsoft.com/office/powerpoint/2010/main" val="212986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sp>
        <p:nvSpPr>
          <p:cNvPr id="7" name="Content Placeholder 3">
            <a:extLst>
              <a:ext uri="{FF2B5EF4-FFF2-40B4-BE49-F238E27FC236}">
                <a16:creationId xmlns:a16="http://schemas.microsoft.com/office/drawing/2014/main" id="{54FC327A-2F71-71C0-6F20-10EDA3055529}"/>
              </a:ext>
            </a:extLst>
          </p:cNvPr>
          <p:cNvSpPr txBox="1">
            <a:spLocks/>
          </p:cNvSpPr>
          <p:nvPr/>
        </p:nvSpPr>
        <p:spPr>
          <a:xfrm>
            <a:off x="0" y="1480850"/>
            <a:ext cx="11858460" cy="49479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GB" sz="4000" dirty="0">
                <a:latin typeface="Arial Nova" panose="020B0504020202020204" pitchFamily="34" charset="0"/>
              </a:rPr>
              <a:t>However… police statistics are affected by:</a:t>
            </a:r>
          </a:p>
          <a:p>
            <a:pPr marL="637200" lvl="2" indent="0">
              <a:buFont typeface="Arial" panose="020B0604020202020204" pitchFamily="34" charset="0"/>
              <a:buNone/>
            </a:pPr>
            <a:r>
              <a:rPr lang="en-GB" sz="3600" dirty="0">
                <a:latin typeface="Arial Nova" panose="020B0504020202020204" pitchFamily="34" charset="0"/>
              </a:rPr>
              <a:t>Crime reporting behaviours (varies across population groups and communities)</a:t>
            </a:r>
          </a:p>
          <a:p>
            <a:pPr marL="637200" lvl="2" indent="0">
              <a:buFont typeface="Arial" panose="020B0604020202020204" pitchFamily="34" charset="0"/>
              <a:buNone/>
            </a:pPr>
            <a:r>
              <a:rPr lang="en-GB" sz="3600" dirty="0">
                <a:latin typeface="Arial Nova" panose="020B0504020202020204" pitchFamily="34" charset="0"/>
              </a:rPr>
              <a:t>Police control over areas (likelihood to witness crimes)</a:t>
            </a:r>
          </a:p>
          <a:p>
            <a:pPr marL="637200" lvl="2" indent="0">
              <a:buFont typeface="Arial" panose="020B0604020202020204" pitchFamily="34" charset="0"/>
              <a:buNone/>
            </a:pPr>
            <a:r>
              <a:rPr lang="en-GB" sz="3600" dirty="0">
                <a:latin typeface="Arial Nova" panose="020B0504020202020204" pitchFamily="34" charset="0"/>
              </a:rPr>
              <a:t>Counting rules</a:t>
            </a:r>
          </a:p>
          <a:p>
            <a:pPr marL="637200" lvl="2" indent="0">
              <a:buFont typeface="Arial" panose="020B0604020202020204" pitchFamily="34" charset="0"/>
              <a:buNone/>
            </a:pPr>
            <a:r>
              <a:rPr lang="en-GB" sz="3600" dirty="0">
                <a:latin typeface="Arial Nova" panose="020B0504020202020204" pitchFamily="34" charset="0"/>
              </a:rPr>
              <a:t>Police recording practices (HMIC, 2014)</a:t>
            </a:r>
          </a:p>
        </p:txBody>
      </p:sp>
    </p:spTree>
    <p:extLst>
      <p:ext uri="{BB962C8B-B14F-4D97-AF65-F5344CB8AC3E}">
        <p14:creationId xmlns:p14="http://schemas.microsoft.com/office/powerpoint/2010/main" val="4139052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2"/>
          <a:stretch>
            <a:fillRect/>
          </a:stretch>
        </p:blipFill>
        <p:spPr>
          <a:xfrm>
            <a:off x="273050" y="6222657"/>
            <a:ext cx="628993" cy="350740"/>
          </a:xfrm>
          <a:prstGeom prst="rect">
            <a:avLst/>
          </a:prstGeom>
        </p:spPr>
      </p:pic>
      <p:pic>
        <p:nvPicPr>
          <p:cNvPr id="6" name="Picture 5">
            <a:extLst>
              <a:ext uri="{FF2B5EF4-FFF2-40B4-BE49-F238E27FC236}">
                <a16:creationId xmlns:a16="http://schemas.microsoft.com/office/drawing/2014/main" id="{04600911-A017-1A7D-C099-84E77CAE88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69727" y="553351"/>
            <a:ext cx="7554019" cy="5751298"/>
          </a:xfrm>
          <a:prstGeom prst="rect">
            <a:avLst/>
          </a:prstGeom>
          <a:noFill/>
          <a:ln>
            <a:noFill/>
          </a:ln>
        </p:spPr>
      </p:pic>
      <p:sp>
        <p:nvSpPr>
          <p:cNvPr id="7" name="Rectangle 6">
            <a:extLst>
              <a:ext uri="{FF2B5EF4-FFF2-40B4-BE49-F238E27FC236}">
                <a16:creationId xmlns:a16="http://schemas.microsoft.com/office/drawing/2014/main" id="{DA8057A3-E171-C972-813E-9949A9ECD2B3}"/>
              </a:ext>
            </a:extLst>
          </p:cNvPr>
          <p:cNvSpPr/>
          <p:nvPr/>
        </p:nvSpPr>
        <p:spPr>
          <a:xfrm>
            <a:off x="4925504" y="2881753"/>
            <a:ext cx="4496585" cy="518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5629A06-ACA8-28EE-404E-172FCD4613DB}"/>
              </a:ext>
            </a:extLst>
          </p:cNvPr>
          <p:cNvSpPr/>
          <p:nvPr/>
        </p:nvSpPr>
        <p:spPr>
          <a:xfrm>
            <a:off x="5002490" y="2363279"/>
            <a:ext cx="4496585" cy="518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64C0E43F-45FE-9E6C-C940-C4D08AEE01B9}"/>
              </a:ext>
            </a:extLst>
          </p:cNvPr>
          <p:cNvSpPr/>
          <p:nvPr/>
        </p:nvSpPr>
        <p:spPr>
          <a:xfrm>
            <a:off x="4925503" y="1844805"/>
            <a:ext cx="4496585" cy="518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EE9A3D53-07F5-550C-C829-61BC2E1273A7}"/>
              </a:ext>
            </a:extLst>
          </p:cNvPr>
          <p:cNvSpPr/>
          <p:nvPr/>
        </p:nvSpPr>
        <p:spPr>
          <a:xfrm>
            <a:off x="4663124" y="1326331"/>
            <a:ext cx="4496585" cy="518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5348C283-3491-1464-18A9-164FE456D30F}"/>
              </a:ext>
            </a:extLst>
          </p:cNvPr>
          <p:cNvSpPr/>
          <p:nvPr/>
        </p:nvSpPr>
        <p:spPr>
          <a:xfrm>
            <a:off x="4663123" y="817266"/>
            <a:ext cx="4758966" cy="518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3">
            <a:extLst>
              <a:ext uri="{FF2B5EF4-FFF2-40B4-BE49-F238E27FC236}">
                <a16:creationId xmlns:a16="http://schemas.microsoft.com/office/drawing/2014/main" id="{017D9096-B5BB-E386-9B83-3DC588A94E9D}"/>
              </a:ext>
            </a:extLst>
          </p:cNvPr>
          <p:cNvSpPr txBox="1">
            <a:spLocks/>
          </p:cNvSpPr>
          <p:nvPr/>
        </p:nvSpPr>
        <p:spPr>
          <a:xfrm>
            <a:off x="9422088" y="1529051"/>
            <a:ext cx="1870399" cy="16119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Font typeface="Arial" panose="020B0604020202020204" pitchFamily="34" charset="0"/>
              <a:buNone/>
            </a:pPr>
            <a:r>
              <a:rPr lang="en-GB" dirty="0"/>
              <a:t>Dark figure of crime</a:t>
            </a:r>
          </a:p>
          <a:p>
            <a:pPr algn="ctr"/>
            <a:endParaRPr lang="en-GB" dirty="0"/>
          </a:p>
        </p:txBody>
      </p:sp>
      <p:sp>
        <p:nvSpPr>
          <p:cNvPr id="5" name="Right Brace 4">
            <a:extLst>
              <a:ext uri="{FF2B5EF4-FFF2-40B4-BE49-F238E27FC236}">
                <a16:creationId xmlns:a16="http://schemas.microsoft.com/office/drawing/2014/main" id="{C501A0EC-35A0-EE4D-B16F-18F2F8A191FC}"/>
              </a:ext>
            </a:extLst>
          </p:cNvPr>
          <p:cNvSpPr/>
          <p:nvPr/>
        </p:nvSpPr>
        <p:spPr>
          <a:xfrm>
            <a:off x="9685793" y="817267"/>
            <a:ext cx="114940" cy="2582960"/>
          </a:xfrm>
          <a:prstGeom prst="rightBrace">
            <a:avLst/>
          </a:prstGeom>
          <a:ln>
            <a:solidFill>
              <a:srgbClr val="7030A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73369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3" grpId="0"/>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2"/>
          <a:stretch>
            <a:fillRect/>
          </a:stretch>
        </p:blipFill>
        <p:spPr>
          <a:xfrm>
            <a:off x="273050" y="6222657"/>
            <a:ext cx="628993" cy="350740"/>
          </a:xfrm>
          <a:prstGeom prst="rect">
            <a:avLst/>
          </a:prstGeom>
        </p:spPr>
      </p:pic>
      <p:pic>
        <p:nvPicPr>
          <p:cNvPr id="12" name="Picture 11">
            <a:extLst>
              <a:ext uri="{FF2B5EF4-FFF2-40B4-BE49-F238E27FC236}">
                <a16:creationId xmlns:a16="http://schemas.microsoft.com/office/drawing/2014/main" id="{1B996AA6-9C5B-351F-AA3B-618512CBA2C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4709" y="1496997"/>
            <a:ext cx="8053965" cy="4725660"/>
          </a:xfrm>
          <a:prstGeom prst="rect">
            <a:avLst/>
          </a:prstGeom>
          <a:noFill/>
          <a:ln>
            <a:noFill/>
          </a:ln>
        </p:spPr>
      </p:pic>
      <p:sp>
        <p:nvSpPr>
          <p:cNvPr id="19" name="Subtitle 2">
            <a:extLst>
              <a:ext uri="{FF2B5EF4-FFF2-40B4-BE49-F238E27FC236}">
                <a16:creationId xmlns:a16="http://schemas.microsoft.com/office/drawing/2014/main" id="{B06BC403-88B8-2C55-B8E1-763AD20F025F}"/>
              </a:ext>
            </a:extLst>
          </p:cNvPr>
          <p:cNvSpPr txBox="1">
            <a:spLocks/>
          </p:cNvSpPr>
          <p:nvPr/>
        </p:nvSpPr>
        <p:spPr>
          <a:xfrm>
            <a:off x="512002" y="539061"/>
            <a:ext cx="6184363" cy="10543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latin typeface="Arial Nova" panose="020B0504020202020204" pitchFamily="34" charset="0"/>
                <a:cs typeface="Arial Nova Light" panose="020B0304020202020204" pitchFamily="34" charset="0"/>
              </a:rPr>
              <a:t>Data from multiple sources</a:t>
            </a:r>
          </a:p>
        </p:txBody>
      </p:sp>
      <p:sp>
        <p:nvSpPr>
          <p:cNvPr id="3" name="Rectangle 2">
            <a:extLst>
              <a:ext uri="{FF2B5EF4-FFF2-40B4-BE49-F238E27FC236}">
                <a16:creationId xmlns:a16="http://schemas.microsoft.com/office/drawing/2014/main" id="{F43D8697-6FEB-2697-3385-0EE7D31BF7E6}"/>
              </a:ext>
            </a:extLst>
          </p:cNvPr>
          <p:cNvSpPr/>
          <p:nvPr/>
        </p:nvSpPr>
        <p:spPr>
          <a:xfrm>
            <a:off x="3657600" y="3630652"/>
            <a:ext cx="1397285" cy="1849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9177792E-C670-6AE1-8B51-D14B8447B481}"/>
              </a:ext>
            </a:extLst>
          </p:cNvPr>
          <p:cNvSpPr/>
          <p:nvPr/>
        </p:nvSpPr>
        <p:spPr>
          <a:xfrm>
            <a:off x="6438474" y="3617122"/>
            <a:ext cx="1397285" cy="1849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25B21DB-9280-BE60-730E-D371BF3EF484}"/>
              </a:ext>
            </a:extLst>
          </p:cNvPr>
          <p:cNvSpPr/>
          <p:nvPr/>
        </p:nvSpPr>
        <p:spPr>
          <a:xfrm>
            <a:off x="9089204" y="3660381"/>
            <a:ext cx="1397285" cy="1849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EE8A112-D528-EA6A-3779-5F41E27F25FA}"/>
              </a:ext>
            </a:extLst>
          </p:cNvPr>
          <p:cNvSpPr/>
          <p:nvPr/>
        </p:nvSpPr>
        <p:spPr>
          <a:xfrm>
            <a:off x="3604183" y="6030229"/>
            <a:ext cx="1397285" cy="1849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BA71634-5DB5-439B-7D7A-7C265546D007}"/>
              </a:ext>
            </a:extLst>
          </p:cNvPr>
          <p:cNvSpPr/>
          <p:nvPr/>
        </p:nvSpPr>
        <p:spPr>
          <a:xfrm>
            <a:off x="6438473" y="6016699"/>
            <a:ext cx="1397285" cy="1849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7250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2"/>
          <a:stretch>
            <a:fillRect/>
          </a:stretch>
        </p:blipFill>
        <p:spPr>
          <a:xfrm>
            <a:off x="273050" y="6222657"/>
            <a:ext cx="628993" cy="350740"/>
          </a:xfrm>
          <a:prstGeom prst="rect">
            <a:avLst/>
          </a:prstGeom>
        </p:spPr>
      </p:pic>
      <p:pic>
        <p:nvPicPr>
          <p:cNvPr id="7" name="Picture 6" descr="cor_police_overall">
            <a:extLst>
              <a:ext uri="{FF2B5EF4-FFF2-40B4-BE49-F238E27FC236}">
                <a16:creationId xmlns:a16="http://schemas.microsoft.com/office/drawing/2014/main" id="{89FFA60D-1777-4AFD-6CDE-B7D79F04D9B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8516" y="1932064"/>
            <a:ext cx="5192712" cy="2993872"/>
          </a:xfrm>
          <a:prstGeom prst="rect">
            <a:avLst/>
          </a:prstGeom>
          <a:noFill/>
          <a:ln>
            <a:noFill/>
          </a:ln>
        </p:spPr>
      </p:pic>
      <p:pic>
        <p:nvPicPr>
          <p:cNvPr id="8" name="Picture 7" descr="Map&#10;&#10;Description automatically generated">
            <a:extLst>
              <a:ext uri="{FF2B5EF4-FFF2-40B4-BE49-F238E27FC236}">
                <a16:creationId xmlns:a16="http://schemas.microsoft.com/office/drawing/2014/main" id="{FA9D6B1E-C548-BB11-C6DC-9034EBD888B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68179"/>
          <a:stretch/>
        </p:blipFill>
        <p:spPr>
          <a:xfrm>
            <a:off x="162965" y="1580201"/>
            <a:ext cx="6924209" cy="3916474"/>
          </a:xfrm>
          <a:prstGeom prst="rect">
            <a:avLst/>
          </a:prstGeom>
        </p:spPr>
      </p:pic>
      <p:sp>
        <p:nvSpPr>
          <p:cNvPr id="17" name="Subtitle 2">
            <a:extLst>
              <a:ext uri="{FF2B5EF4-FFF2-40B4-BE49-F238E27FC236}">
                <a16:creationId xmlns:a16="http://schemas.microsoft.com/office/drawing/2014/main" id="{5F16E5BE-CB48-3A75-3C9B-8D80BAB9E58D}"/>
              </a:ext>
            </a:extLst>
          </p:cNvPr>
          <p:cNvSpPr txBox="1">
            <a:spLocks/>
          </p:cNvSpPr>
          <p:nvPr/>
        </p:nvSpPr>
        <p:spPr>
          <a:xfrm>
            <a:off x="531974" y="525838"/>
            <a:ext cx="3633366" cy="10543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latin typeface="Arial Nova" panose="020B0504020202020204" pitchFamily="34" charset="0"/>
                <a:cs typeface="Arial Nova Light" panose="020B0304020202020204" pitchFamily="34" charset="0"/>
              </a:rPr>
              <a:t>Survey data</a:t>
            </a:r>
          </a:p>
        </p:txBody>
      </p:sp>
    </p:spTree>
    <p:extLst>
      <p:ext uri="{BB962C8B-B14F-4D97-AF65-F5344CB8AC3E}">
        <p14:creationId xmlns:p14="http://schemas.microsoft.com/office/powerpoint/2010/main" val="92698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3"/>
          <a:stretch>
            <a:fillRect/>
          </a:stretch>
        </p:blipFill>
        <p:spPr>
          <a:xfrm>
            <a:off x="273050" y="6222657"/>
            <a:ext cx="628993" cy="350740"/>
          </a:xfrm>
          <a:prstGeom prst="rect">
            <a:avLst/>
          </a:prstGeom>
        </p:spPr>
      </p:pic>
      <p:sp>
        <p:nvSpPr>
          <p:cNvPr id="6" name="Content Placeholder 3">
            <a:extLst>
              <a:ext uri="{FF2B5EF4-FFF2-40B4-BE49-F238E27FC236}">
                <a16:creationId xmlns:a16="http://schemas.microsoft.com/office/drawing/2014/main" id="{2DA70F6B-9DD3-B542-6E5B-F9D4669309FD}"/>
              </a:ext>
            </a:extLst>
          </p:cNvPr>
          <p:cNvSpPr txBox="1">
            <a:spLocks/>
          </p:cNvSpPr>
          <p:nvPr/>
        </p:nvSpPr>
        <p:spPr>
          <a:xfrm>
            <a:off x="1797978" y="2323505"/>
            <a:ext cx="8250148" cy="22811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4800" i="1" dirty="0"/>
              <a:t>“All crime data are wrong… </a:t>
            </a:r>
          </a:p>
          <a:p>
            <a:pPr marL="0" indent="0" algn="ctr">
              <a:buFont typeface="Arial" panose="020B0604020202020204" pitchFamily="34" charset="0"/>
              <a:buNone/>
            </a:pPr>
            <a:r>
              <a:rPr lang="en-GB" sz="4800" i="1" dirty="0"/>
              <a:t>but some are useful”</a:t>
            </a:r>
          </a:p>
        </p:txBody>
      </p:sp>
    </p:spTree>
    <p:extLst>
      <p:ext uri="{BB962C8B-B14F-4D97-AF65-F5344CB8AC3E}">
        <p14:creationId xmlns:p14="http://schemas.microsoft.com/office/powerpoint/2010/main" val="4057050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2DFA6F-7DA7-D349-B20B-36DEA7AC608E}"/>
              </a:ext>
            </a:extLst>
          </p:cNvPr>
          <p:cNvSpPr/>
          <p:nvPr/>
        </p:nvSpPr>
        <p:spPr>
          <a:xfrm>
            <a:off x="0" y="-12357"/>
            <a:ext cx="12193200" cy="108000"/>
          </a:xfrm>
          <a:prstGeom prst="rect">
            <a:avLst/>
          </a:prstGeom>
          <a:solidFill>
            <a:srgbClr val="66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con&#10;&#10;Description automatically generated">
            <a:extLst>
              <a:ext uri="{FF2B5EF4-FFF2-40B4-BE49-F238E27FC236}">
                <a16:creationId xmlns:a16="http://schemas.microsoft.com/office/drawing/2014/main" id="{C0940EA1-FA44-6E4D-9E44-04E3EE3F0F09}"/>
              </a:ext>
            </a:extLst>
          </p:cNvPr>
          <p:cNvPicPr>
            <a:picLocks noChangeAspect="1"/>
          </p:cNvPicPr>
          <p:nvPr/>
        </p:nvPicPr>
        <p:blipFill>
          <a:blip r:embed="rId2"/>
          <a:stretch>
            <a:fillRect/>
          </a:stretch>
        </p:blipFill>
        <p:spPr>
          <a:xfrm>
            <a:off x="273050" y="6222657"/>
            <a:ext cx="628993" cy="350740"/>
          </a:xfrm>
          <a:prstGeom prst="rect">
            <a:avLst/>
          </a:prstGeom>
        </p:spPr>
      </p:pic>
      <p:sp>
        <p:nvSpPr>
          <p:cNvPr id="6" name="Subtitle 2">
            <a:extLst>
              <a:ext uri="{FF2B5EF4-FFF2-40B4-BE49-F238E27FC236}">
                <a16:creationId xmlns:a16="http://schemas.microsoft.com/office/drawing/2014/main" id="{9490851C-DECA-E626-AA47-F0A44E5B97AD}"/>
              </a:ext>
            </a:extLst>
          </p:cNvPr>
          <p:cNvSpPr txBox="1">
            <a:spLocks/>
          </p:cNvSpPr>
          <p:nvPr/>
        </p:nvSpPr>
        <p:spPr>
          <a:xfrm>
            <a:off x="1956561" y="1746607"/>
            <a:ext cx="8266226" cy="418066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4800" b="1" i="1" dirty="0">
                <a:latin typeface="Arial Nova" panose="020B0504020202020204" pitchFamily="34" charset="0"/>
                <a:cs typeface="Arial Nova Light" panose="020B0304020202020204" pitchFamily="34" charset="0"/>
              </a:rPr>
              <a:t>Many thanks!</a:t>
            </a:r>
          </a:p>
          <a:p>
            <a:pPr marL="0" indent="0" algn="ctr">
              <a:buNone/>
            </a:pPr>
            <a:endParaRPr lang="en-GB" sz="3600" i="1" dirty="0">
              <a:latin typeface="Arial Nova" panose="020B0504020202020204" pitchFamily="34" charset="0"/>
              <a:cs typeface="Arial Nova Light" panose="020B0304020202020204" pitchFamily="34" charset="0"/>
            </a:endParaRPr>
          </a:p>
          <a:p>
            <a:pPr marL="0" indent="0" algn="ctr">
              <a:buNone/>
            </a:pPr>
            <a:r>
              <a:rPr lang="en-GB" sz="3600" i="1" dirty="0">
                <a:latin typeface="Arial Nova" panose="020B0504020202020204" pitchFamily="34" charset="0"/>
                <a:cs typeface="Arial Nova Light" panose="020B0304020202020204" pitchFamily="34" charset="0"/>
              </a:rPr>
              <a:t>David Buil-Gil</a:t>
            </a:r>
          </a:p>
          <a:p>
            <a:pPr marL="0" indent="0" algn="ctr">
              <a:buNone/>
            </a:pPr>
            <a:r>
              <a:rPr lang="en-GB" sz="3600" i="1" dirty="0">
                <a:latin typeface="Arial Nova" panose="020B0504020202020204" pitchFamily="34" charset="0"/>
                <a:cs typeface="Arial Nova Light" panose="020B0304020202020204" pitchFamily="34" charset="0"/>
              </a:rPr>
              <a:t>david.builgil@manchester.ac.uk</a:t>
            </a:r>
          </a:p>
        </p:txBody>
      </p:sp>
    </p:spTree>
    <p:extLst>
      <p:ext uri="{BB962C8B-B14F-4D97-AF65-F5344CB8AC3E}">
        <p14:creationId xmlns:p14="http://schemas.microsoft.com/office/powerpoint/2010/main" val="255015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6594</TotalTime>
  <Words>356</Words>
  <Application>Microsoft Office PowerPoint</Application>
  <PresentationFormat>Widescreen</PresentationFormat>
  <Paragraphs>55</Paragraphs>
  <Slides>16</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 Nova</vt:lpstr>
      <vt:lpstr>Arial Nova Cond Light</vt:lpstr>
      <vt:lpstr>Arial Nova Light</vt:lpstr>
      <vt:lpstr>Calibri</vt:lpstr>
      <vt:lpstr>Calibri Light</vt:lpstr>
      <vt:lpstr>Open Sans</vt:lpstr>
      <vt:lpstr>Office Theme</vt:lpstr>
      <vt:lpstr>The measurement of crime Opportunities and challenges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Criminology School of Social Sciences</dc:title>
  <dc:creator>Myles Hayden</dc:creator>
  <cp:lastModifiedBy>David Buil Gil</cp:lastModifiedBy>
  <cp:revision>26</cp:revision>
  <dcterms:created xsi:type="dcterms:W3CDTF">2021-10-20T16:48:27Z</dcterms:created>
  <dcterms:modified xsi:type="dcterms:W3CDTF">2026-05-12T16:39:40Z</dcterms:modified>
</cp:coreProperties>
</file>